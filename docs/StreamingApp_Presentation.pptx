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8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0"/>
            <a:ext cx="54864" cy="6858000"/>
          </a:xfrm>
          <a:prstGeom prst="rect">
            <a:avLst/>
          </a:prstGeom>
          <a:solidFill>
            <a:srgbClr val="3D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69680" y="-914400"/>
            <a:ext cx="3291840" cy="3291840"/>
          </a:xfrm>
          <a:prstGeom prst="ellipse">
            <a:avLst/>
          </a:prstGeom>
          <a:solidFill>
            <a:srgbClr val="10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1188720"/>
            <a:ext cx="2194560" cy="2194560"/>
          </a:xfrm>
          <a:prstGeom prst="ellipse">
            <a:avLst/>
          </a:prstGeom>
          <a:solidFill>
            <a:srgbClr val="08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589520" y="4572000"/>
            <a:ext cx="2743200" cy="2743200"/>
          </a:xfrm>
          <a:prstGeom prst="ellipse">
            <a:avLst/>
          </a:prstGeom>
          <a:solidFill>
            <a:srgbClr val="102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822960"/>
            <a:ext cx="2377440" cy="329184"/>
          </a:xfrm>
          <a:prstGeom prst="roundRect">
            <a:avLst>
              <a:gd name="adj" fmla="val 5000"/>
            </a:avLst>
          </a:prstGeom>
          <a:solidFill>
            <a:srgbClr val="0A2452"/>
          </a:solidFill>
          <a:ln w="19050">
            <a:solidFill>
              <a:srgbClr val="3D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822960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5BA3FF"/>
                </a:solidFill>
                <a:latin typeface="Calibri"/>
              </a:rPr>
              <a:t>DEVOPS PROJECT  ·  VIVA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1298448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StreamingApp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22860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5BA3FF"/>
                </a:solidFill>
                <a:latin typeface="Calibri"/>
              </a:rPr>
              <a:t>Kubernetes Cluster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27432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5BA3FF"/>
                </a:solidFill>
                <a:latin typeface="Calibri"/>
              </a:rPr>
              <a:t>Health Checker &amp;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32004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E5FF"/>
                </a:solidFill>
                <a:latin typeface="Calibri"/>
              </a:rPr>
              <a:t>Auto-Healing System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3840480"/>
            <a:ext cx="2286000" cy="36576"/>
          </a:xfrm>
          <a:prstGeom prst="rect">
            <a:avLst/>
          </a:prstGeom>
          <a:solidFill>
            <a:srgbClr val="3D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0" y="400507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D90B8"/>
                </a:solidFill>
                <a:latin typeface="Calibri"/>
              </a:rPr>
              <a:t>Author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005072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F"/>
                </a:solidFill>
                <a:latin typeface="Calibri"/>
              </a:rPr>
              <a:t>Priyank Pandey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" y="4443984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D90B8"/>
                </a:solidFill>
                <a:latin typeface="Calibri"/>
              </a:rPr>
              <a:t>Platform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443984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F"/>
                </a:solidFill>
                <a:latin typeface="Calibri"/>
              </a:rPr>
              <a:t>AWS EKS · Kubernetes 1.32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" y="4882896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D90B8"/>
                </a:solidFill>
                <a:latin typeface="Calibri"/>
              </a:rPr>
              <a:t>Stack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882896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F"/>
                </a:solidFill>
                <a:latin typeface="Calibri"/>
              </a:rPr>
              <a:t>MERN + Helm + Jenkins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" y="532180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D90B8"/>
                </a:solidFill>
                <a:latin typeface="Calibri"/>
              </a:rPr>
              <a:t>Region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5321808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F"/>
                </a:solidFill>
                <a:latin typeface="Calibri"/>
              </a:rPr>
              <a:t>us-west-1 · t3.medium × 2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320040"/>
            <a:ext cx="6766560" cy="630936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5349240" y="6217920"/>
            <a:ext cx="2286000" cy="329184"/>
          </a:xfrm>
          <a:prstGeom prst="roundRect">
            <a:avLst>
              <a:gd name="adj" fmla="val 5000"/>
            </a:avLst>
          </a:prstGeom>
          <a:solidFill>
            <a:srgbClr val="081228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76672" y="6236208"/>
            <a:ext cx="22494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E5FF"/>
                </a:solidFill>
                <a:latin typeface="Calibri"/>
              </a:rPr>
              <a:t>System Architecture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3D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12188952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005840"/>
            <a:ext cx="5577840" cy="1115568"/>
          </a:xfrm>
          <a:prstGeom prst="roundRect">
            <a:avLst>
              <a:gd name="adj" fmla="val 5000"/>
            </a:avLst>
          </a:prstGeom>
          <a:solidFill>
            <a:srgbClr val="171F35"/>
          </a:solidFill>
          <a:ln w="19050"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109728" cy="1115568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411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4D6D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15568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F0FF"/>
                </a:solidFill>
                <a:latin typeface="Calibri"/>
              </a:rPr>
              <a:t>Pod crashes go undetected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5087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D90B8"/>
                </a:solidFill>
                <a:latin typeface="Calibri"/>
              </a:rPr>
              <a:t>No automated detection in traditional setups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67712"/>
            <a:ext cx="5577840" cy="1115568"/>
          </a:xfrm>
          <a:prstGeom prst="roundRect">
            <a:avLst>
              <a:gd name="adj" fmla="val 5000"/>
            </a:avLst>
          </a:prstGeom>
          <a:solidFill>
            <a:srgbClr val="171F35"/>
          </a:solidFill>
          <a:ln w="19050">
            <a:solidFill>
              <a:srgbClr val="FF7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2267712"/>
            <a:ext cx="109728" cy="1115568"/>
          </a:xfrm>
          <a:prstGeom prst="rect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560320"/>
            <a:ext cx="411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7A45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377440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F0FF"/>
                </a:solidFill>
                <a:latin typeface="Calibri"/>
              </a:rPr>
              <a:t>Manual recovery is slow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77063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D90B8"/>
                </a:solidFill>
                <a:latin typeface="Calibri"/>
              </a:rPr>
              <a:t>MTTR = 10–30 min with on-call engineers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3529584"/>
            <a:ext cx="5577840" cy="1115568"/>
          </a:xfrm>
          <a:prstGeom prst="roundRect">
            <a:avLst>
              <a:gd name="adj" fmla="val 5000"/>
            </a:avLst>
          </a:prstGeom>
          <a:solidFill>
            <a:srgbClr val="171F35"/>
          </a:solidFill>
          <a:ln w="19050">
            <a:solidFill>
              <a:srgbClr val="FFD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529584"/>
            <a:ext cx="109728" cy="1115568"/>
          </a:xfrm>
          <a:prstGeom prst="rect">
            <a:avLst/>
          </a:prstGeom>
          <a:solidFill>
            <a:srgbClr val="FFD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822192"/>
            <a:ext cx="411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D03A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639312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F0FF"/>
                </a:solidFill>
                <a:latin typeface="Calibri"/>
              </a:rPr>
              <a:t>Zero cluster visibility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032504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D90B8"/>
                </a:solidFill>
                <a:latin typeface="Calibri"/>
              </a:rPr>
              <a:t>No real-time dashboard for health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4791456"/>
            <a:ext cx="5577840" cy="1115568"/>
          </a:xfrm>
          <a:prstGeom prst="roundRect">
            <a:avLst>
              <a:gd name="adj" fmla="val 5000"/>
            </a:avLst>
          </a:prstGeom>
          <a:solidFill>
            <a:srgbClr val="171F35"/>
          </a:solidFill>
          <a:ln w="19050">
            <a:solidFill>
              <a:srgbClr val="BD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4791456"/>
            <a:ext cx="109728" cy="1115568"/>
          </a:xfrm>
          <a:prstGeom prst="rect">
            <a:avLst/>
          </a:prstGeom>
          <a:solidFill>
            <a:srgbClr val="BD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084064"/>
            <a:ext cx="411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BD7A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901184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F0FF"/>
                </a:solidFill>
                <a:latin typeface="Calibri"/>
              </a:rPr>
              <a:t>Traffic spikes cause outages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294376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D90B8"/>
                </a:solidFill>
                <a:latin typeface="Calibri"/>
              </a:rPr>
              <a:t>No auto-scaling → node resource exhaustion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914400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E5FF"/>
                </a:solidFill>
                <a:latin typeface="Calibri"/>
              </a:rPr>
              <a:t>Our Solution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1417320"/>
            <a:ext cx="5577840" cy="1024128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1905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55080" y="1655064"/>
            <a:ext cx="548640" cy="548640"/>
          </a:xfrm>
          <a:prstGeom prst="ellipse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664208"/>
            <a:ext cx="5303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E1A"/>
                </a:solidFill>
                <a:latin typeface="Calibri"/>
              </a:rPr>
              <a:t>[OK]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1508760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F0FF"/>
                </a:solidFill>
                <a:latin typeface="Calibri"/>
              </a:rPr>
              <a:t>Automated Health Monitoring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60" y="192024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D90B8"/>
                </a:solidFill>
                <a:latin typeface="Calibri"/>
              </a:rPr>
              <a:t>Prometheus metrics at 15s intervals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2606040"/>
            <a:ext cx="5577840" cy="1024128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19050">
            <a:solidFill>
              <a:srgbClr val="3D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355080" y="2843784"/>
            <a:ext cx="548640" cy="548640"/>
          </a:xfrm>
          <a:prstGeom prst="ellipse">
            <a:avLst/>
          </a:prstGeom>
          <a:solidFill>
            <a:srgbClr val="3D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64224" y="2852928"/>
            <a:ext cx="5303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E1A"/>
                </a:solidFill>
                <a:latin typeface="Calibri"/>
              </a:rPr>
              <a:t>[OK]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60" y="2697480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F0FF"/>
                </a:solidFill>
                <a:latin typeface="Calibri"/>
              </a:rPr>
              <a:t>Python Self-Healing Controller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5160" y="310896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D90B8"/>
                </a:solidFill>
                <a:latin typeface="Calibri"/>
              </a:rPr>
              <a:t>Detect &amp; fix in &lt; 60 seconds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3794760"/>
            <a:ext cx="5577840" cy="1024128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19050">
            <a:solidFill>
              <a:srgbClr val="BD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355080" y="4032504"/>
            <a:ext cx="548640" cy="548640"/>
          </a:xfrm>
          <a:prstGeom prst="ellipse">
            <a:avLst/>
          </a:prstGeom>
          <a:solidFill>
            <a:srgbClr val="BD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64224" y="4041648"/>
            <a:ext cx="5303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E1A"/>
                </a:solidFill>
                <a:latin typeface="Calibri"/>
              </a:rPr>
              <a:t>[OK]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95160" y="3886200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F0FF"/>
                </a:solidFill>
                <a:latin typeface="Calibri"/>
              </a:rPr>
              <a:t>Alertmanager + Slack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95160" y="429768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D90B8"/>
                </a:solidFill>
                <a:latin typeface="Calibri"/>
              </a:rPr>
              <a:t>Real-time alerts to DevOps team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63640" y="4983480"/>
            <a:ext cx="5577840" cy="1024128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19050">
            <a:solidFill>
              <a:srgbClr val="FFD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355080" y="5221224"/>
            <a:ext cx="548640" cy="548640"/>
          </a:xfrm>
          <a:prstGeom prst="ellipse">
            <a:avLst/>
          </a:prstGeom>
          <a:solidFill>
            <a:srgbClr val="FFD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64224" y="5230368"/>
            <a:ext cx="5303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E1A"/>
                </a:solidFill>
                <a:latin typeface="Calibri"/>
              </a:rPr>
              <a:t>[OK]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95160" y="5074920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F0FF"/>
                </a:solidFill>
                <a:latin typeface="Calibri"/>
              </a:rPr>
              <a:t>Grafana Dashboards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95160" y="548640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D90B8"/>
                </a:solidFill>
                <a:latin typeface="Calibri"/>
              </a:rPr>
              <a:t>30s auto-refresh live cluster state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3D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12188952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D90B8"/>
                </a:solidFill>
                <a:latin typeface="Calibri"/>
              </a:rPr>
              <a:t>AWS EKS · us-west-1 · Kubernetes 1.32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822960"/>
            <a:ext cx="1188720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3D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12188952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" y="868680"/>
            <a:ext cx="2926080" cy="365760"/>
          </a:xfrm>
          <a:prstGeom prst="roundRect">
            <a:avLst>
              <a:gd name="adj" fmla="val 5000"/>
            </a:avLst>
          </a:prstGeom>
          <a:solidFill>
            <a:srgbClr val="122139"/>
          </a:solidFill>
          <a:ln w="19050">
            <a:solidFill>
              <a:srgbClr val="3D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87782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3D8EFF"/>
                </a:solidFill>
                <a:latin typeface="Calibri"/>
              </a:rPr>
              <a:t>CLOUD &amp; INFRA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" y="1325880"/>
            <a:ext cx="2926080" cy="914400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" y="141732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8F0FF"/>
                </a:solidFill>
                <a:latin typeface="Calibri"/>
              </a:rPr>
              <a:t>AWS EKS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" y="180136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D90B8"/>
                </a:solidFill>
                <a:latin typeface="Calibri"/>
              </a:rPr>
              <a:t>Managed Kubernetes 1.32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" y="2377440"/>
            <a:ext cx="2926080" cy="914400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" y="246888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8F0FF"/>
                </a:solidFill>
                <a:latin typeface="Calibri"/>
              </a:rPr>
              <a:t>AWS EC2 t3.medium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" y="285292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D90B8"/>
                </a:solidFill>
                <a:latin typeface="Calibri"/>
              </a:rPr>
              <a:t>Worker nodes + Jenkins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1168" y="3429000"/>
            <a:ext cx="2926080" cy="914400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6" y="35204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8F0FF"/>
                </a:solidFill>
                <a:latin typeface="Calibri"/>
              </a:rPr>
              <a:t>AWS ECR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" y="390448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D90B8"/>
                </a:solidFill>
                <a:latin typeface="Calibri"/>
              </a:rPr>
              <a:t>Container registry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1168" y="4480560"/>
            <a:ext cx="2926080" cy="914400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0896" y="457200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8F0FF"/>
                </a:solidFill>
                <a:latin typeface="Calibri"/>
              </a:rPr>
              <a:t>AWS S3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" y="495604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D90B8"/>
                </a:solidFill>
                <a:latin typeface="Calibri"/>
              </a:rPr>
              <a:t>Video file storage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1168" y="5532120"/>
            <a:ext cx="2926080" cy="914400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0896" y="562356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8F0FF"/>
                </a:solidFill>
                <a:latin typeface="Calibri"/>
              </a:rPr>
              <a:t>AWS NLB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" y="600760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D90B8"/>
                </a:solidFill>
                <a:latin typeface="Calibri"/>
              </a:rPr>
              <a:t>internet-facing load balancer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91256" y="868680"/>
            <a:ext cx="2926080" cy="365760"/>
          </a:xfrm>
          <a:prstGeom prst="roundRect">
            <a:avLst>
              <a:gd name="adj" fmla="val 5000"/>
            </a:avLst>
          </a:prstGeom>
          <a:solidFill>
            <a:srgbClr val="083139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91256" y="87782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0E5FF"/>
                </a:solidFill>
                <a:latin typeface="Calibri"/>
              </a:rPr>
              <a:t>ORCHESTRATION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191256" y="1325880"/>
            <a:ext cx="2926080" cy="914400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00984" y="141732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8F0FF"/>
                </a:solidFill>
                <a:latin typeface="Calibri"/>
              </a:rPr>
              <a:t>Kubernetes 1.32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00984" y="180136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D90B8"/>
                </a:solidFill>
                <a:latin typeface="Calibri"/>
              </a:rPr>
              <a:t>Container orchestration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91256" y="2377440"/>
            <a:ext cx="2926080" cy="914400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00984" y="246888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8F0FF"/>
                </a:solidFill>
                <a:latin typeface="Calibri"/>
              </a:rPr>
              <a:t>Helm v4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00984" y="285292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D90B8"/>
                </a:solidFill>
                <a:latin typeface="Calibri"/>
              </a:rPr>
              <a:t>Package management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191256" y="3429000"/>
            <a:ext cx="2926080" cy="914400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00984" y="35204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8F0FF"/>
                </a:solidFill>
                <a:latin typeface="Calibri"/>
              </a:rPr>
              <a:t>eksctl v0.227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00984" y="390448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D90B8"/>
                </a:solidFill>
                <a:latin typeface="Calibri"/>
              </a:rPr>
              <a:t>Cluster lifecycle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191256" y="4480560"/>
            <a:ext cx="2926080" cy="914400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00984" y="457200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8F0FF"/>
                </a:solidFill>
                <a:latin typeface="Calibri"/>
              </a:rPr>
              <a:t>nginx Ingress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00984" y="495604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D90B8"/>
                </a:solidFill>
                <a:latin typeface="Calibri"/>
              </a:rPr>
              <a:t>Reverse proxy + routing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191256" y="5532120"/>
            <a:ext cx="2926080" cy="914400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00984" y="562356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8F0FF"/>
                </a:solidFill>
                <a:latin typeface="Calibri"/>
              </a:rPr>
              <a:t>HPA + PDB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00984" y="600760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D90B8"/>
                </a:solidFill>
                <a:latin typeface="Calibri"/>
              </a:rPr>
              <a:t>Auto-scale + disruption budget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81344" y="868680"/>
            <a:ext cx="2926080" cy="365760"/>
          </a:xfrm>
          <a:prstGeom prst="roundRect">
            <a:avLst>
              <a:gd name="adj" fmla="val 5000"/>
            </a:avLst>
          </a:prstGeom>
          <a:solidFill>
            <a:srgbClr val="083127"/>
          </a:solidFill>
          <a:ln w="1905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81344" y="87782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0E596"/>
                </a:solidFill>
                <a:latin typeface="Calibri"/>
              </a:rPr>
              <a:t>APPLICATION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81344" y="1325880"/>
            <a:ext cx="2926080" cy="914400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91072" y="141732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8F0FF"/>
                </a:solidFill>
                <a:latin typeface="Calibri"/>
              </a:rPr>
              <a:t>Node.js 18 Alpine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91072" y="180136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D90B8"/>
                </a:solidFill>
                <a:latin typeface="Calibri"/>
              </a:rPr>
              <a:t>4 backend microservices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81344" y="2377440"/>
            <a:ext cx="2926080" cy="914400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91072" y="246888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8F0FF"/>
                </a:solidFill>
                <a:latin typeface="Calibri"/>
              </a:rPr>
              <a:t>React 18 + Nginx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91072" y="285292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D90B8"/>
                </a:solidFill>
                <a:latin typeface="Calibri"/>
              </a:rPr>
              <a:t>SPA — 23MB multi-stage image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81344" y="3429000"/>
            <a:ext cx="2926080" cy="914400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91072" y="35204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8F0FF"/>
                </a:solidFill>
                <a:latin typeface="Calibri"/>
              </a:rPr>
              <a:t>MongoDB Atlas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91072" y="390448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D90B8"/>
                </a:solidFill>
                <a:latin typeface="Calibri"/>
              </a:rPr>
              <a:t>Cloud managed database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81344" y="4480560"/>
            <a:ext cx="2926080" cy="914400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91072" y="457200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8F0FF"/>
                </a:solidFill>
                <a:latin typeface="Calibri"/>
              </a:rPr>
              <a:t>Socket.IO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91072" y="495604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D90B8"/>
                </a:solidFill>
                <a:latin typeface="Calibri"/>
              </a:rPr>
              <a:t>Real-time WebSocket chat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181344" y="5532120"/>
            <a:ext cx="2926080" cy="914400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91072" y="562356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8F0FF"/>
                </a:solidFill>
                <a:latin typeface="Calibri"/>
              </a:rPr>
              <a:t>Python 3.11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91072" y="600760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D90B8"/>
                </a:solidFill>
                <a:latin typeface="Calibri"/>
              </a:rPr>
              <a:t>Self-healing controller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171432" y="868680"/>
            <a:ext cx="2926080" cy="365760"/>
          </a:xfrm>
          <a:prstGeom prst="roundRect">
            <a:avLst>
              <a:gd name="adj" fmla="val 5000"/>
            </a:avLst>
          </a:prstGeom>
          <a:solidFill>
            <a:srgbClr val="351D18"/>
          </a:solidFill>
          <a:ln w="19050">
            <a:solidFill>
              <a:srgbClr val="FF7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171432" y="87782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7A45"/>
                </a:solidFill>
                <a:latin typeface="Calibri"/>
              </a:rPr>
              <a:t>MONITORING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171432" y="1325880"/>
            <a:ext cx="2926080" cy="914400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281160" y="141732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8F0FF"/>
                </a:solidFill>
                <a:latin typeface="Calibri"/>
              </a:rPr>
              <a:t>Prometheus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81160" y="180136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D90B8"/>
                </a:solidFill>
                <a:latin typeface="Calibri"/>
              </a:rPr>
              <a:t>Metrics collection (15s scrape)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171432" y="2377440"/>
            <a:ext cx="2926080" cy="914400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281160" y="246888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8F0FF"/>
                </a:solidFill>
                <a:latin typeface="Calibri"/>
              </a:rPr>
              <a:t>Grafana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281160" y="285292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D90B8"/>
                </a:solidFill>
                <a:latin typeface="Calibri"/>
              </a:rPr>
              <a:t>Dashboards (30s refresh)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171432" y="3429000"/>
            <a:ext cx="2926080" cy="914400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281160" y="35204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8F0FF"/>
                </a:solidFill>
                <a:latin typeface="Calibri"/>
              </a:rPr>
              <a:t>Alertmanager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281160" y="390448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D90B8"/>
                </a:solidFill>
                <a:latin typeface="Calibri"/>
              </a:rPr>
              <a:t>Alert routing to Slack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171432" y="4480560"/>
            <a:ext cx="2926080" cy="914400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281160" y="457200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8F0FF"/>
                </a:solidFill>
                <a:latin typeface="Calibri"/>
              </a:rPr>
              <a:t>kube-state-metrics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281160" y="495604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D90B8"/>
                </a:solidFill>
                <a:latin typeface="Calibri"/>
              </a:rPr>
              <a:t>Kubernetes object metrics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171432" y="5532120"/>
            <a:ext cx="2926080" cy="914400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281160" y="562356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8F0FF"/>
                </a:solidFill>
                <a:latin typeface="Calibri"/>
              </a:rPr>
              <a:t>node-exporter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281160" y="600760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D90B8"/>
                </a:solidFill>
                <a:latin typeface="Calibri"/>
              </a:rPr>
              <a:t>OS-level CPU/memory metrics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3D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12188952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Application Microservices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D90B8"/>
                </a:solidFill>
                <a:latin typeface="Calibri"/>
              </a:rPr>
              <a:t>6 Containerised Services on EKS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" y="960120"/>
            <a:ext cx="5760720" cy="1719072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22860">
            <a:solidFill>
              <a:srgbClr val="3D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10896" y="1069848"/>
            <a:ext cx="749808" cy="292608"/>
          </a:xfrm>
          <a:prstGeom prst="roundRect">
            <a:avLst>
              <a:gd name="adj" fmla="val 5000"/>
            </a:avLst>
          </a:prstGeom>
          <a:solidFill>
            <a:srgbClr val="122139"/>
          </a:solidFill>
          <a:ln w="12700">
            <a:solidFill>
              <a:srgbClr val="3D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" y="1069848"/>
            <a:ext cx="7498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D8EFF"/>
                </a:solidFill>
                <a:latin typeface="Calibri"/>
              </a:rPr>
              <a:t>:3001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10515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E8F0FF"/>
                </a:solidFill>
                <a:latin typeface="Calibri"/>
              </a:rPr>
              <a:t>auth-service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" y="145389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7D90B8"/>
                </a:solidFill>
                <a:latin typeface="Calibri"/>
              </a:rPr>
              <a:t>JWT login, register, verify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" y="1810512"/>
            <a:ext cx="5394960" cy="18288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" y="1874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E5FF"/>
                </a:solidFill>
                <a:latin typeface="Calibri"/>
              </a:rPr>
              <a:t>Probe: httpGet /health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5888" y="1874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0E596"/>
                </a:solidFill>
                <a:latin typeface="Calibri"/>
              </a:rPr>
              <a:t>HPA max 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" y="224028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D90B8"/>
                </a:solidFill>
                <a:latin typeface="Calibri"/>
              </a:rPr>
              <a:t>streamingapp-auth-pp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1168" y="2843784"/>
            <a:ext cx="5760720" cy="1719072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2286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10896" y="2953512"/>
            <a:ext cx="749808" cy="292608"/>
          </a:xfrm>
          <a:prstGeom prst="roundRect">
            <a:avLst>
              <a:gd name="adj" fmla="val 5000"/>
            </a:avLst>
          </a:prstGeom>
          <a:solidFill>
            <a:srgbClr val="083127"/>
          </a:solidFill>
          <a:ln w="1270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0896" y="2953512"/>
            <a:ext cx="7498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E596"/>
                </a:solidFill>
                <a:latin typeface="Calibri"/>
              </a:rPr>
              <a:t>:3002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61288" y="2935224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E8F0FF"/>
                </a:solidFill>
                <a:latin typeface="Calibri"/>
              </a:rPr>
              <a:t>streaming-service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" y="33375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7D90B8"/>
                </a:solidFill>
                <a:latin typeface="Calibri"/>
              </a:rPr>
              <a:t>Video catalog + S3 signed URLs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328" y="3694176"/>
            <a:ext cx="5394960" cy="18288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328" y="375818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E5FF"/>
                </a:solidFill>
                <a:latin typeface="Calibri"/>
              </a:rPr>
              <a:t>Probe: httpGet /api/health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75888" y="375818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0E596"/>
                </a:solidFill>
                <a:latin typeface="Calibri"/>
              </a:rPr>
              <a:t>HPA max 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" y="4123944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D90B8"/>
                </a:solidFill>
                <a:latin typeface="Calibri"/>
              </a:rPr>
              <a:t>streamingapp-streaming-pp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01168" y="4727448"/>
            <a:ext cx="5760720" cy="1719072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22860">
            <a:solidFill>
              <a:srgbClr val="FF7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10896" y="4837176"/>
            <a:ext cx="749808" cy="292608"/>
          </a:xfrm>
          <a:prstGeom prst="roundRect">
            <a:avLst>
              <a:gd name="adj" fmla="val 5000"/>
            </a:avLst>
          </a:prstGeom>
          <a:solidFill>
            <a:srgbClr val="351D18"/>
          </a:solidFill>
          <a:ln w="12700">
            <a:solidFill>
              <a:srgbClr val="FF7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0896" y="4837176"/>
            <a:ext cx="7498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7A45"/>
                </a:solidFill>
                <a:latin typeface="Calibri"/>
              </a:rPr>
              <a:t>:3003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61288" y="481888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E8F0FF"/>
                </a:solidFill>
                <a:latin typeface="Calibri"/>
              </a:rPr>
              <a:t>admin-service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" y="522122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7D90B8"/>
                </a:solidFill>
                <a:latin typeface="Calibri"/>
              </a:rPr>
              <a:t>Video upload management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" y="5577840"/>
            <a:ext cx="5394960" cy="18288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8328" y="56418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E5FF"/>
                </a:solidFill>
                <a:latin typeface="Calibri"/>
              </a:rPr>
              <a:t>Probe: TCP socket :3003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75888" y="564184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0E596"/>
                </a:solidFill>
                <a:latin typeface="Calibri"/>
              </a:rPr>
              <a:t>2 replicas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" y="600760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D90B8"/>
                </a:solidFill>
                <a:latin typeface="Calibri"/>
              </a:rPr>
              <a:t>streamingapp-admin-pp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960120"/>
            <a:ext cx="5760720" cy="1719072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22860">
            <a:solidFill>
              <a:srgbClr val="BD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327648" y="1069848"/>
            <a:ext cx="749808" cy="292608"/>
          </a:xfrm>
          <a:prstGeom prst="roundRect">
            <a:avLst>
              <a:gd name="adj" fmla="val 5000"/>
            </a:avLst>
          </a:prstGeom>
          <a:solidFill>
            <a:srgbClr val="2A1D39"/>
          </a:solidFill>
          <a:ln w="12700">
            <a:solidFill>
              <a:srgbClr val="BD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27648" y="1069848"/>
            <a:ext cx="7498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BD7AFF"/>
                </a:solidFill>
                <a:latin typeface="Calibri"/>
              </a:rPr>
              <a:t>:3004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8040" y="10515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E8F0FF"/>
                </a:solidFill>
                <a:latin typeface="Calibri"/>
              </a:rPr>
              <a:t>chat-service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145389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7D90B8"/>
                </a:solidFill>
                <a:latin typeface="Calibri"/>
              </a:rPr>
              <a:t>Socket.IO real-time chat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5080" y="1810512"/>
            <a:ext cx="5394960" cy="18288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55080" y="1874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E5FF"/>
                </a:solidFill>
                <a:latin typeface="Calibri"/>
              </a:rPr>
              <a:t>Probe: TCP socket :3004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92640" y="1874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0E596"/>
                </a:solidFill>
                <a:latin typeface="Calibri"/>
              </a:rPr>
              <a:t>2 replicas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5080" y="224028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D90B8"/>
                </a:solidFill>
                <a:latin typeface="Calibri"/>
              </a:rPr>
              <a:t>streamingapp-chat-pp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17920" y="2843784"/>
            <a:ext cx="5760720" cy="1719072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22860">
            <a:solidFill>
              <a:srgbClr val="FFD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327648" y="2953512"/>
            <a:ext cx="749808" cy="292608"/>
          </a:xfrm>
          <a:prstGeom prst="roundRect">
            <a:avLst>
              <a:gd name="adj" fmla="val 5000"/>
            </a:avLst>
          </a:prstGeom>
          <a:solidFill>
            <a:srgbClr val="352D16"/>
          </a:solidFill>
          <a:ln w="12700">
            <a:solidFill>
              <a:srgbClr val="FFD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27648" y="2953512"/>
            <a:ext cx="7498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D03A"/>
                </a:solidFill>
                <a:latin typeface="Calibri"/>
              </a:rPr>
              <a:t>:80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78040" y="2935224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E8F0FF"/>
                </a:solidFill>
                <a:latin typeface="Calibri"/>
              </a:rPr>
              <a:t>frontend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5080" y="33375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7D90B8"/>
                </a:solidFill>
                <a:latin typeface="Calibri"/>
              </a:rPr>
              <a:t>React SPA via nginx (~23MB)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55080" y="3694176"/>
            <a:ext cx="5394960" cy="18288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55080" y="375818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E5FF"/>
                </a:solidFill>
                <a:latin typeface="Calibri"/>
              </a:rPr>
              <a:t>Probe: httpGet /health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92640" y="375818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0E596"/>
                </a:solidFill>
                <a:latin typeface="Calibri"/>
              </a:rPr>
              <a:t>HPA max 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55080" y="4123944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D90B8"/>
                </a:solidFill>
                <a:latin typeface="Calibri"/>
              </a:rPr>
              <a:t>streamingapp-frontend-pp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17920" y="4727448"/>
            <a:ext cx="5760720" cy="1719072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2286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327648" y="4837176"/>
            <a:ext cx="749808" cy="292608"/>
          </a:xfrm>
          <a:prstGeom prst="roundRect">
            <a:avLst>
              <a:gd name="adj" fmla="val 5000"/>
            </a:avLst>
          </a:prstGeom>
          <a:solidFill>
            <a:srgbClr val="083139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27648" y="4837176"/>
            <a:ext cx="7498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E5FF"/>
                </a:solidFill>
                <a:latin typeface="Calibri"/>
              </a:rPr>
              <a:t>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78040" y="481888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E8F0FF"/>
                </a:solidFill>
                <a:latin typeface="Calibri"/>
              </a:rPr>
              <a:t>healing-controller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55080" y="522122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7D90B8"/>
                </a:solidFill>
                <a:latin typeface="Calibri"/>
              </a:rPr>
              <a:t>Python K8s self-healing watch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55080" y="5577840"/>
            <a:ext cx="5394960" cy="18288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55080" y="56418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E5FF"/>
                </a:solidFill>
                <a:latin typeface="Calibri"/>
              </a:rPr>
              <a:t>Probe: — (system pod)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92640" y="564184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0E596"/>
                </a:solidFill>
                <a:latin typeface="Calibri"/>
              </a:rPr>
              <a:t>1 replica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55080" y="600760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D90B8"/>
                </a:solidFill>
                <a:latin typeface="Calibri"/>
              </a:rPr>
              <a:t>streamingapp-healing-controller-pp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3D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12188952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CI/CD Pipeline — Jenkins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D90B8"/>
                </a:solidFill>
                <a:latin typeface="Calibri"/>
              </a:rPr>
              <a:t>Parallel builds · Dual tags · Atomic Helm deploy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914400"/>
            <a:ext cx="11887200" cy="21488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01168" y="3246120"/>
            <a:ext cx="3749039" cy="1508760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19050">
            <a:solidFill>
              <a:srgbClr val="3D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1168" y="3246120"/>
            <a:ext cx="91440" cy="1508760"/>
          </a:xfrm>
          <a:prstGeom prst="rect">
            <a:avLst/>
          </a:prstGeom>
          <a:solidFill>
            <a:srgbClr val="3D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335584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F0FF"/>
                </a:solidFill>
                <a:latin typeface="Calibri"/>
              </a:rPr>
              <a:t>Parallel Builds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379476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D90B8"/>
                </a:solidFill>
                <a:latin typeface="Calibri"/>
              </a:rPr>
              <a:t>All 6 Docker images build concurrently
~5 min total vs ~20 min sequential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3246120"/>
            <a:ext cx="3749039" cy="1508760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1905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0" y="3246120"/>
            <a:ext cx="91440" cy="150876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335584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F0FF"/>
                </a:solidFill>
                <a:latin typeface="Calibri"/>
              </a:rPr>
              <a:t>Dual Image Tagging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79476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D90B8"/>
                </a:solidFill>
                <a:latin typeface="Calibri"/>
              </a:rPr>
              <a:t>:latest for convenience
:&lt;git-hash&gt; for immutable rollbacks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11312" y="3246120"/>
            <a:ext cx="3749039" cy="1508760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19050">
            <a:solidFill>
              <a:srgbClr val="FF7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11312" y="3246120"/>
            <a:ext cx="91440" cy="1508760"/>
          </a:xfrm>
          <a:prstGeom prst="rect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335584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F0FF"/>
                </a:solidFill>
                <a:latin typeface="Calibri"/>
              </a:rPr>
              <a:t>--atomic Deploy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379476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D90B8"/>
                </a:solidFill>
                <a:latin typeface="Calibri"/>
              </a:rPr>
              <a:t>Helm auto-rolls back if any pod
fails health checks post-deploy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1168" y="4910328"/>
            <a:ext cx="3749039" cy="1508760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19050">
            <a:solidFill>
              <a:srgbClr val="BD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4910328"/>
            <a:ext cx="91440" cy="1508760"/>
          </a:xfrm>
          <a:prstGeom prst="rect">
            <a:avLst/>
          </a:prstGeom>
          <a:solidFill>
            <a:srgbClr val="BD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" y="5020056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F0FF"/>
                </a:solidFill>
                <a:latin typeface="Calibri"/>
              </a:rPr>
              <a:t>Zero Credentials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5458968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D90B8"/>
                </a:solidFill>
                <a:latin typeface="Calibri"/>
              </a:rPr>
              <a:t>Jenkins EC2 uses IAM Instance Profile
No static AWS keys stored anywhere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06240" y="4910328"/>
            <a:ext cx="3749039" cy="1508760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06240" y="4910328"/>
            <a:ext cx="91440" cy="15087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0" y="5020056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F0FF"/>
                </a:solidFill>
                <a:latin typeface="Calibri"/>
              </a:rPr>
              <a:t>ECR Integration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5458968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D90B8"/>
                </a:solidFill>
                <a:latin typeface="Calibri"/>
              </a:rPr>
              <a:t>6 repos with -pp suffix
scanOnPush=true for vulnerability scanning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11312" y="4910328"/>
            <a:ext cx="3749039" cy="1508760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19050">
            <a:solidFill>
              <a:srgbClr val="FFD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11312" y="4910328"/>
            <a:ext cx="91440" cy="1508760"/>
          </a:xfrm>
          <a:prstGeom prst="rect">
            <a:avLst/>
          </a:prstGeom>
          <a:solidFill>
            <a:srgbClr val="FFD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94192" y="5020056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F0FF"/>
                </a:solidFill>
                <a:latin typeface="Calibri"/>
              </a:rPr>
              <a:t>Helm History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192" y="5458968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D90B8"/>
                </a:solidFill>
                <a:latin typeface="Calibri"/>
              </a:rPr>
              <a:t>Every deploy versioned
helm rollback streamingapp-pp 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3D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12188952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Self-Healing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D90B8"/>
                </a:solidFill>
                <a:latin typeface="Calibri"/>
              </a:rPr>
              <a:t>Sprint 3 — Automated Pod Recovery (Python 3.11)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868680"/>
            <a:ext cx="6217920" cy="58064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583680" y="914400"/>
            <a:ext cx="5440680" cy="384048"/>
          </a:xfrm>
          <a:prstGeom prst="roundRect">
            <a:avLst>
              <a:gd name="adj" fmla="val 5000"/>
            </a:avLst>
          </a:prstGeom>
          <a:solidFill>
            <a:srgbClr val="0A2452"/>
          </a:solidFill>
          <a:ln w="12700">
            <a:solidFill>
              <a:srgbClr val="3D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91440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BA3FF"/>
                </a:solidFill>
                <a:latin typeface="Calibri"/>
              </a:rPr>
              <a:t>Failure Mode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91440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BA3FF"/>
                </a:solidFill>
                <a:latin typeface="Calibri"/>
              </a:rPr>
              <a:t>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91440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BA3FF"/>
                </a:solidFill>
                <a:latin typeface="Calibri"/>
              </a:rPr>
              <a:t>Cooldown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353312"/>
            <a:ext cx="5440680" cy="621792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12700"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93408" y="140817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4D6D"/>
                </a:solidFill>
                <a:latin typeface="Calibri"/>
              </a:rPr>
              <a:t>CrashLoopBackOff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93408" y="168249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D90B8"/>
                </a:solidFill>
                <a:latin typeface="Calibri"/>
              </a:rPr>
              <a:t>restarts ≥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15361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96"/>
                </a:solidFill>
                <a:latin typeface="Calibri"/>
              </a:rPr>
              <a:t>delete_pod()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15361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D03A"/>
                </a:solidFill>
                <a:latin typeface="Calibri"/>
              </a:rPr>
              <a:t>5 min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2066544"/>
            <a:ext cx="5440680" cy="621792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12700">
            <a:solidFill>
              <a:srgbClr val="FF7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93408" y="212140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7A45"/>
                </a:solidFill>
                <a:latin typeface="Calibri"/>
              </a:rPr>
              <a:t>OOMKilled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93408" y="2395728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D90B8"/>
                </a:solidFill>
                <a:latin typeface="Calibri"/>
              </a:rPr>
              <a:t>last_state.reason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24942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96"/>
                </a:solidFill>
                <a:latin typeface="Calibri"/>
              </a:rPr>
              <a:t>delete_pod()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22494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D03A"/>
                </a:solidFill>
                <a:latin typeface="Calibri"/>
              </a:rPr>
              <a:t>5 min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0" y="2779776"/>
            <a:ext cx="5440680" cy="621792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12700">
            <a:solidFill>
              <a:srgbClr val="FFD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93408" y="28346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D03A"/>
                </a:solidFill>
                <a:latin typeface="Calibri"/>
              </a:rPr>
              <a:t>Evicted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93408" y="3108960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D90B8"/>
                </a:solidFill>
                <a:latin typeface="Calibri"/>
              </a:rPr>
              <a:t>phase=Failed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96265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96"/>
                </a:solidFill>
                <a:latin typeface="Calibri"/>
              </a:rPr>
              <a:t>delete_pod()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296265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D03A"/>
                </a:solidFill>
                <a:latin typeface="Calibri"/>
              </a:rPr>
              <a:t>None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0" y="3493008"/>
            <a:ext cx="5440680" cy="621792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12700">
            <a:solidFill>
              <a:srgbClr val="7D9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93408" y="354787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7D90B8"/>
                </a:solidFill>
                <a:latin typeface="Calibri"/>
              </a:rPr>
              <a:t>ImagePullBackOff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93408" y="3822192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D90B8"/>
                </a:solidFill>
                <a:latin typeface="Calibri"/>
              </a:rPr>
              <a:t>waiting.reason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67588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96"/>
                </a:solidFill>
                <a:latin typeface="Calibri"/>
              </a:rPr>
              <a:t>log_alert()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36758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D03A"/>
                </a:solidFill>
                <a:latin typeface="Calibri"/>
              </a:rPr>
              <a:t>None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0" y="4315968"/>
            <a:ext cx="5440680" cy="1143000"/>
          </a:xfrm>
          <a:prstGeom prst="roundRect">
            <a:avLst>
              <a:gd name="adj" fmla="val 5000"/>
            </a:avLst>
          </a:prstGeom>
          <a:solidFill>
            <a:srgbClr val="171F35"/>
          </a:solidFill>
          <a:ln w="19050">
            <a:solidFill>
              <a:srgbClr val="BD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20840" y="43891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D7AFF"/>
                </a:solidFill>
                <a:latin typeface="Calibri"/>
              </a:rPr>
              <a:t>RBAC — Least Privilege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480060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D90B8"/>
                </a:solidFill>
                <a:latin typeface="Calibri"/>
              </a:rPr>
              <a:t>pods: get · list · watch · delete
events: get · list · watch · create · patch
deployments / replicasets: get · list · watch (read-only)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0" y="5532120"/>
            <a:ext cx="5440680" cy="822960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20840" y="55778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5FF"/>
                </a:solidFill>
                <a:latin typeface="Calibri"/>
              </a:rPr>
              <a:t>Audit Log  →  /var/log/healing/actions.log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59161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0E596"/>
                </a:solidFill>
                <a:latin typeface="Calibri"/>
              </a:rPr>
              <a:t>{"action":"delete_pod","pod":"streaming-7dd-mlkch","reason":"CrashLoopBackOff:restarts=4","result":"success"}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3D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12188952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Monitoring &amp; Observability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D90B8"/>
                </a:solidFill>
                <a:latin typeface="Calibri"/>
              </a:rPr>
              <a:t>kube-prometheus-stack · Prometheus · Grafana · Alertmanager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914400"/>
            <a:ext cx="6080760" cy="56692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0" y="960120"/>
            <a:ext cx="5623560" cy="411480"/>
          </a:xfrm>
          <a:prstGeom prst="roundRect">
            <a:avLst>
              <a:gd name="adj" fmla="val 5000"/>
            </a:avLst>
          </a:prstGeom>
          <a:solidFill>
            <a:srgbClr val="0A1E40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9784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FF"/>
                </a:solidFill>
                <a:latin typeface="Calibri"/>
              </a:rPr>
              <a:t>Metric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9784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FF"/>
                </a:solidFill>
                <a:latin typeface="Calibri"/>
              </a:rPr>
              <a:t>PromQL Key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9784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FF"/>
                </a:solidFill>
                <a:latin typeface="Calibri"/>
              </a:rPr>
              <a:t>Threshold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417320"/>
            <a:ext cx="5623560" cy="804672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15240">
            <a:solidFill>
              <a:srgbClr val="FF7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417320"/>
            <a:ext cx="73152" cy="804672"/>
          </a:xfrm>
          <a:prstGeom prst="rect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149047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F0FF"/>
                </a:solidFill>
                <a:latin typeface="Calibri"/>
              </a:rPr>
              <a:t>Pod Restart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1874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7D90B8"/>
                </a:solidFill>
                <a:latin typeface="Calibri"/>
              </a:rPr>
              <a:t>kube_pod_container_status
_restarts_total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84280" y="1673352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7A45"/>
                </a:solidFill>
                <a:latin typeface="Calibri"/>
              </a:rPr>
              <a:t>&gt; 1 / 5min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72600" y="1581912"/>
            <a:ext cx="1828800" cy="475488"/>
          </a:xfrm>
          <a:prstGeom prst="roundRect">
            <a:avLst>
              <a:gd name="adj" fmla="val 5000"/>
            </a:avLst>
          </a:prstGeom>
          <a:solidFill>
            <a:srgbClr val="351D18"/>
          </a:solidFill>
          <a:ln w="12700">
            <a:solidFill>
              <a:srgbClr val="FF7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0" y="160020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7A45"/>
                </a:solidFill>
                <a:latin typeface="Calibri"/>
              </a:rPr>
              <a:t>&gt; 1 / 5min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2313432"/>
            <a:ext cx="5623560" cy="804672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15240"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2313432"/>
            <a:ext cx="73152" cy="804672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0528" y="238658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F0FF"/>
                </a:solidFill>
                <a:latin typeface="Calibri"/>
              </a:rPr>
              <a:t>OOMKilled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277063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7D90B8"/>
                </a:solidFill>
                <a:latin typeface="Calibri"/>
              </a:rPr>
              <a:t>kube_pod_container_status
_last_terminated_reason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84280" y="2569464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4D6D"/>
                </a:solidFill>
                <a:latin typeface="Calibri"/>
              </a:rPr>
              <a:t>Any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72600" y="2478024"/>
            <a:ext cx="1828800" cy="475488"/>
          </a:xfrm>
          <a:prstGeom prst="roundRect">
            <a:avLst>
              <a:gd name="adj" fmla="val 5000"/>
            </a:avLst>
          </a:prstGeom>
          <a:solidFill>
            <a:srgbClr val="35151F"/>
          </a:solidFill>
          <a:ln w="12700"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0" y="2496312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4D6D"/>
                </a:solidFill>
                <a:latin typeface="Calibri"/>
              </a:rPr>
              <a:t>Any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3209544"/>
            <a:ext cx="5623560" cy="804672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15240">
            <a:solidFill>
              <a:srgbClr val="FFD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3209544"/>
            <a:ext cx="73152" cy="804672"/>
          </a:xfrm>
          <a:prstGeom prst="rect">
            <a:avLst/>
          </a:prstGeom>
          <a:solidFill>
            <a:srgbClr val="FFD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10528" y="328269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F0FF"/>
                </a:solidFill>
                <a:latin typeface="Calibri"/>
              </a:rPr>
              <a:t>Pod Pending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0528" y="366674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7D90B8"/>
                </a:solidFill>
                <a:latin typeface="Calibri"/>
              </a:rPr>
              <a:t>kube_pod_status_phase
{phase=Pending}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3465576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D03A"/>
                </a:solidFill>
                <a:latin typeface="Calibri"/>
              </a:rPr>
              <a:t>&gt; 5 min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72600" y="3374136"/>
            <a:ext cx="1828800" cy="475488"/>
          </a:xfrm>
          <a:prstGeom prst="roundRect">
            <a:avLst>
              <a:gd name="adj" fmla="val 5000"/>
            </a:avLst>
          </a:prstGeom>
          <a:solidFill>
            <a:srgbClr val="352D16"/>
          </a:solidFill>
          <a:ln w="12700">
            <a:solidFill>
              <a:srgbClr val="FFD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18320" y="3392424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03A"/>
                </a:solidFill>
                <a:latin typeface="Calibri"/>
              </a:rPr>
              <a:t>&gt; 5 min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4105656"/>
            <a:ext cx="5623560" cy="804672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15240">
            <a:solidFill>
              <a:srgbClr val="3D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0" y="4105656"/>
            <a:ext cx="73152" cy="804672"/>
          </a:xfrm>
          <a:prstGeom prst="rect">
            <a:avLst/>
          </a:prstGeom>
          <a:solidFill>
            <a:srgbClr val="3D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10528" y="417880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F0FF"/>
                </a:solidFill>
                <a:latin typeface="Calibri"/>
              </a:rPr>
              <a:t>Node CPU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0528" y="456285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7D90B8"/>
                </a:solidFill>
                <a:latin typeface="Calibri"/>
              </a:rPr>
              <a:t>node_cpu_seconds_total
{mode=idle}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84280" y="4361688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3D8EFF"/>
                </a:solidFill>
                <a:latin typeface="Calibri"/>
              </a:rPr>
              <a:t>&gt; 80%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372600" y="4270248"/>
            <a:ext cx="1828800" cy="475488"/>
          </a:xfrm>
          <a:prstGeom prst="roundRect">
            <a:avLst>
              <a:gd name="adj" fmla="val 5000"/>
            </a:avLst>
          </a:prstGeom>
          <a:solidFill>
            <a:srgbClr val="122139"/>
          </a:solidFill>
          <a:ln w="12700">
            <a:solidFill>
              <a:srgbClr val="3D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18320" y="4288536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D8EFF"/>
                </a:solidFill>
                <a:latin typeface="Calibri"/>
              </a:rPr>
              <a:t>&gt; 80%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0" y="5001768"/>
            <a:ext cx="5623560" cy="804672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15240">
            <a:solidFill>
              <a:srgbClr val="BD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00800" y="5001768"/>
            <a:ext cx="73152" cy="804672"/>
          </a:xfrm>
          <a:prstGeom prst="rect">
            <a:avLst/>
          </a:prstGeom>
          <a:solidFill>
            <a:srgbClr val="BD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10528" y="507492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F0FF"/>
                </a:solidFill>
                <a:latin typeface="Calibri"/>
              </a:rPr>
              <a:t>Node Memory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10528" y="54589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7D90B8"/>
                </a:solidFill>
                <a:latin typeface="Calibri"/>
              </a:rPr>
              <a:t>node_memory_MemAvailable
_bytes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384280" y="5257800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BD7AFF"/>
                </a:solidFill>
                <a:latin typeface="Calibri"/>
              </a:rPr>
              <a:t>&gt; 85%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372600" y="5166360"/>
            <a:ext cx="1828800" cy="475488"/>
          </a:xfrm>
          <a:prstGeom prst="roundRect">
            <a:avLst>
              <a:gd name="adj" fmla="val 5000"/>
            </a:avLst>
          </a:prstGeom>
          <a:solidFill>
            <a:srgbClr val="2A1D39"/>
          </a:solidFill>
          <a:ln w="12700">
            <a:solidFill>
              <a:srgbClr val="BD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418320" y="5184648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D7AFF"/>
                </a:solidFill>
                <a:latin typeface="Calibri"/>
              </a:rPr>
              <a:t>&gt; 85%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6181344"/>
            <a:ext cx="5623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7D90B8"/>
                </a:solidFill>
                <a:latin typeface="Calibri"/>
              </a:rPr>
              <a:t>Scrape interval: 15s  ·  Dashboard auto-refresh: 30s  ·  Retention: 15 days default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3D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12188952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Alerting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D90B8"/>
                </a:solidFill>
                <a:latin typeface="Calibri"/>
              </a:rPr>
              <a:t>PrometheusRule CRD · Alertmanager · Slack Integration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960120"/>
            <a:ext cx="11750040" cy="384048"/>
          </a:xfrm>
          <a:prstGeom prst="roundRect">
            <a:avLst>
              <a:gd name="adj" fmla="val 5000"/>
            </a:avLst>
          </a:prstGeom>
          <a:solidFill>
            <a:srgbClr val="0A1E40"/>
          </a:solidFill>
          <a:ln w="12700">
            <a:solidFill>
              <a:srgbClr val="3D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97840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BA3FF"/>
                </a:solidFill>
                <a:latin typeface="Calibri"/>
              </a:rPr>
              <a:t>Alert Name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97840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BA3FF"/>
                </a:solidFill>
                <a:latin typeface="Calibri"/>
              </a:rPr>
              <a:t>PromQL Condition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0" y="97840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BA3FF"/>
                </a:solidFill>
                <a:latin typeface="Calibri"/>
              </a:rPr>
              <a:t>For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97840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BA3FF"/>
                </a:solidFill>
                <a:latin typeface="Calibri"/>
              </a:rPr>
              <a:t>Slack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" y="97840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BA3FF"/>
                </a:solidFill>
                <a:latin typeface="Calibri"/>
              </a:rPr>
              <a:t>Sev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97840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BA3FF"/>
                </a:solidFill>
                <a:latin typeface="Calibri"/>
              </a:rPr>
              <a:t>Alert 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97840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BA3FF"/>
                </a:solidFill>
                <a:latin typeface="Calibri"/>
              </a:rPr>
              <a:t>PromQL Condition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0" y="97840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BA3FF"/>
                </a:solidFill>
                <a:latin typeface="Calibri"/>
              </a:rPr>
              <a:t>For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97840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BA3FF"/>
                </a:solidFill>
                <a:latin typeface="Calibri"/>
              </a:rPr>
              <a:t>Channel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" y="1389888"/>
            <a:ext cx="11750040" cy="841248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15240"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92608" y="1636776"/>
            <a:ext cx="384048" cy="347472"/>
          </a:xfrm>
          <a:prstGeom prst="roundRect">
            <a:avLst>
              <a:gd name="adj" fmla="val 5000"/>
            </a:avLst>
          </a:prstGeom>
          <a:solidFill>
            <a:srgbClr val="35151F"/>
          </a:solidFill>
          <a:ln w="12700"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0896" y="1664208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4D6D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148132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8F0FF"/>
                </a:solidFill>
                <a:latin typeface="Calibri"/>
              </a:rPr>
              <a:t>PodCrashLooping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189280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4D6D"/>
                </a:solidFill>
                <a:latin typeface="Calibri"/>
              </a:rPr>
              <a:t>CRITICAL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1527048"/>
            <a:ext cx="6492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7D90B8"/>
                </a:solidFill>
                <a:latin typeface="Calibri"/>
              </a:rPr>
              <a:t>rate(kube_pod_container_status_restarts_total[5m]) * 300 &gt;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1240" y="1664208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03A"/>
                </a:solidFill>
                <a:latin typeface="Calibri"/>
              </a:rPr>
              <a:t>2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61320" y="166420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96"/>
                </a:solidFill>
                <a:latin typeface="Calibri"/>
              </a:rPr>
              <a:t>#k8s-alerts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28600" y="2340864"/>
            <a:ext cx="11750040" cy="841248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15240">
            <a:solidFill>
              <a:srgbClr val="FF7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92608" y="2587752"/>
            <a:ext cx="384048" cy="347472"/>
          </a:xfrm>
          <a:prstGeom prst="roundRect">
            <a:avLst>
              <a:gd name="adj" fmla="val 5000"/>
            </a:avLst>
          </a:prstGeom>
          <a:solidFill>
            <a:srgbClr val="351D18"/>
          </a:solidFill>
          <a:ln w="12700">
            <a:solidFill>
              <a:srgbClr val="FF7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0896" y="2615184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7A45"/>
                </a:solidFill>
                <a:latin typeface="Calibri"/>
              </a:rPr>
              <a:t>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243230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8F0FF"/>
                </a:solidFill>
                <a:latin typeface="Calibri"/>
              </a:rPr>
              <a:t>PodOOMKilled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284378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7A45"/>
                </a:solidFill>
                <a:latin typeface="Calibri"/>
              </a:rPr>
              <a:t>WARNING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2478024"/>
            <a:ext cx="6492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7D90B8"/>
                </a:solidFill>
                <a:latin typeface="Calibri"/>
              </a:rPr>
              <a:t>kube_pod_container_status_last_terminated_reason ==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21240" y="2615184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03A"/>
                </a:solidFill>
                <a:latin typeface="Calibri"/>
              </a:rPr>
              <a:t>0 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61320" y="2615184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96"/>
                </a:solidFill>
                <a:latin typeface="Calibri"/>
              </a:rPr>
              <a:t>#k8s-alerts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28600" y="3291840"/>
            <a:ext cx="11750040" cy="841248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15240"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92608" y="3538728"/>
            <a:ext cx="384048" cy="347472"/>
          </a:xfrm>
          <a:prstGeom prst="roundRect">
            <a:avLst>
              <a:gd name="adj" fmla="val 5000"/>
            </a:avLst>
          </a:prstGeom>
          <a:solidFill>
            <a:srgbClr val="35151F"/>
          </a:solidFill>
          <a:ln w="12700"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0896" y="3566160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4D6D"/>
                </a:solidFill>
                <a:latin typeface="Calibri"/>
              </a:rPr>
              <a:t>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8" y="3383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8F0FF"/>
                </a:solidFill>
                <a:latin typeface="Calibri"/>
              </a:rPr>
              <a:t>PodPendingTooLong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" y="379476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4D6D"/>
                </a:solidFill>
                <a:latin typeface="Calibri"/>
              </a:rPr>
              <a:t>CRITICAL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0" y="3429000"/>
            <a:ext cx="6492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7D90B8"/>
                </a:solidFill>
                <a:latin typeface="Calibri"/>
              </a:rPr>
              <a:t>kube_pod_status_phase{phase='Pending'} == 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21240" y="356616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03A"/>
                </a:solidFill>
                <a:latin typeface="Calibri"/>
              </a:rPr>
              <a:t>5 min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61320" y="356616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96"/>
                </a:solidFill>
                <a:latin typeface="Calibri"/>
              </a:rPr>
              <a:t>#k8s-alerts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28600" y="4242816"/>
            <a:ext cx="11750040" cy="841248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15240">
            <a:solidFill>
              <a:srgbClr val="FFD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292608" y="4489704"/>
            <a:ext cx="384048" cy="347472"/>
          </a:xfrm>
          <a:prstGeom prst="roundRect">
            <a:avLst>
              <a:gd name="adj" fmla="val 5000"/>
            </a:avLst>
          </a:prstGeom>
          <a:solidFill>
            <a:srgbClr val="352D16"/>
          </a:solidFill>
          <a:ln w="12700">
            <a:solidFill>
              <a:srgbClr val="FFD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10896" y="4517136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D03A"/>
                </a:solidFill>
                <a:latin typeface="Calibri"/>
              </a:rPr>
              <a:t>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808" y="433425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8F0FF"/>
                </a:solidFill>
                <a:latin typeface="Calibri"/>
              </a:rPr>
              <a:t>NodeHighCPU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9808" y="474573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D03A"/>
                </a:solidFill>
                <a:latin typeface="Calibri"/>
              </a:rPr>
              <a:t>WARNING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00400" y="4379976"/>
            <a:ext cx="6492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7D90B8"/>
                </a:solidFill>
                <a:latin typeface="Calibri"/>
              </a:rPr>
              <a:t>(1 - avg(rate(node_cpu_seconds_total{mode='idle'}[5m]))) &gt; 0.8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21240" y="4517136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03A"/>
                </a:solidFill>
                <a:latin typeface="Calibri"/>
              </a:rPr>
              <a:t>5 min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61320" y="4517136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96"/>
                </a:solidFill>
                <a:latin typeface="Calibri"/>
              </a:rPr>
              <a:t>#k8s-warnings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28600" y="5193792"/>
            <a:ext cx="11750040" cy="841248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15240"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292608" y="5440680"/>
            <a:ext cx="384048" cy="347472"/>
          </a:xfrm>
          <a:prstGeom prst="roundRect">
            <a:avLst>
              <a:gd name="adj" fmla="val 5000"/>
            </a:avLst>
          </a:prstGeom>
          <a:solidFill>
            <a:srgbClr val="35151F"/>
          </a:solidFill>
          <a:ln w="12700"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10896" y="5468112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4D6D"/>
                </a:solidFill>
                <a:latin typeface="Calibri"/>
              </a:rPr>
              <a:t>C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9808" y="528523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8F0FF"/>
                </a:solidFill>
                <a:latin typeface="Calibri"/>
              </a:rPr>
              <a:t>NodeHighMemory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9808" y="569671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4D6D"/>
                </a:solidFill>
                <a:latin typeface="Calibri"/>
              </a:rPr>
              <a:t>CRITICAL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00400" y="5330952"/>
            <a:ext cx="6492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7D90B8"/>
                </a:solidFill>
                <a:latin typeface="Calibri"/>
              </a:rPr>
              <a:t>(1 - node_memory_MemAvailable / node_memory_MemTotal) &gt; 0.85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921240" y="5468112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03A"/>
                </a:solidFill>
                <a:latin typeface="Calibri"/>
              </a:rPr>
              <a:t>5 min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61320" y="546811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96"/>
                </a:solidFill>
                <a:latin typeface="Calibri"/>
              </a:rPr>
              <a:t>#k8s-alerts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28600" y="6263640"/>
            <a:ext cx="11750040" cy="384048"/>
          </a:xfrm>
          <a:prstGeom prst="roundRect">
            <a:avLst>
              <a:gd name="adj" fmla="val 5000"/>
            </a:avLst>
          </a:prstGeom>
          <a:solidFill>
            <a:srgbClr val="171F35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0040" y="6281928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D90B8"/>
                </a:solidFill>
                <a:latin typeface="Calibri"/>
              </a:rPr>
              <a:t>groupBy: alertname · namespace · pod  ·  groupWait: 30s  ·  repeatInterval: 3h  ·  sendResolved: true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3D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12188952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Auto-Scaling &amp; High Availability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D90B8"/>
                </a:solidFill>
                <a:latin typeface="Calibri"/>
              </a:rPr>
              <a:t>HPA · Cluster Autoscaler · PodDisruptionBudget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960120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FF"/>
                </a:solidFill>
                <a:latin typeface="Calibri"/>
              </a:rPr>
              <a:t>Horizontal Pod Autoscaler (HPA)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417320"/>
            <a:ext cx="6400800" cy="932688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1905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5087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F0FF"/>
                </a:solidFill>
                <a:latin typeface="Calibri"/>
              </a:rPr>
              <a:t>streaming-service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9202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D90B8"/>
                </a:solidFill>
                <a:latin typeface="Calibri"/>
              </a:rPr>
              <a:t>Trigger: CPU 65% + Mem 75%</a:t>
            </a:r>
          </a:p>
        </p:txBody>
      </p:sp>
      <p:sp>
        <p:nvSpPr>
          <p:cNvPr id="10" name="Oval 9"/>
          <p:cNvSpPr/>
          <p:nvPr/>
        </p:nvSpPr>
        <p:spPr>
          <a:xfrm>
            <a:off x="3108960" y="1691640"/>
            <a:ext cx="374904" cy="384048"/>
          </a:xfrm>
          <a:prstGeom prst="ellipse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520440" y="1691640"/>
            <a:ext cx="374904" cy="384048"/>
          </a:xfrm>
          <a:prstGeom prst="ellipse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931920" y="1691640"/>
            <a:ext cx="374904" cy="384048"/>
          </a:xfrm>
          <a:prstGeom prst="ellipse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43400" y="1691640"/>
            <a:ext cx="374904" cy="384048"/>
          </a:xfrm>
          <a:prstGeom prst="ellipse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754880" y="1691640"/>
            <a:ext cx="374904" cy="384048"/>
          </a:xfrm>
          <a:prstGeom prst="ellipse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166360" y="1691640"/>
            <a:ext cx="374904" cy="384048"/>
          </a:xfrm>
          <a:prstGeom prst="ellipse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77840" y="1691640"/>
            <a:ext cx="374904" cy="384048"/>
          </a:xfrm>
          <a:prstGeom prst="ellipse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989320" y="1691640"/>
            <a:ext cx="374904" cy="384048"/>
          </a:xfrm>
          <a:prstGeom prst="ellipse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08960" y="2112264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D90B8"/>
                </a:solidFill>
                <a:latin typeface="Calibri"/>
              </a:rPr>
              <a:t>min 2 → max 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2468880"/>
            <a:ext cx="6400800" cy="932688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19050">
            <a:solidFill>
              <a:srgbClr val="3D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2560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F0FF"/>
                </a:solidFill>
                <a:latin typeface="Calibri"/>
              </a:rPr>
              <a:t>auth-service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29718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D90B8"/>
                </a:solidFill>
                <a:latin typeface="Calibri"/>
              </a:rPr>
              <a:t>Trigger: CPU 70%</a:t>
            </a:r>
          </a:p>
        </p:txBody>
      </p:sp>
      <p:sp>
        <p:nvSpPr>
          <p:cNvPr id="22" name="Oval 21"/>
          <p:cNvSpPr/>
          <p:nvPr/>
        </p:nvSpPr>
        <p:spPr>
          <a:xfrm>
            <a:off x="3108960" y="2743200"/>
            <a:ext cx="512064" cy="384048"/>
          </a:xfrm>
          <a:prstGeom prst="ellipse">
            <a:avLst/>
          </a:prstGeom>
          <a:solidFill>
            <a:srgbClr val="3D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657600" y="2743200"/>
            <a:ext cx="512064" cy="384048"/>
          </a:xfrm>
          <a:prstGeom prst="ellipse">
            <a:avLst/>
          </a:prstGeom>
          <a:solidFill>
            <a:srgbClr val="3D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206240" y="2743200"/>
            <a:ext cx="512064" cy="384048"/>
          </a:xfrm>
          <a:prstGeom prst="ellipse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754880" y="2743200"/>
            <a:ext cx="512064" cy="384048"/>
          </a:xfrm>
          <a:prstGeom prst="ellipse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303520" y="2743200"/>
            <a:ext cx="512064" cy="384048"/>
          </a:xfrm>
          <a:prstGeom prst="ellipse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852160" y="2743200"/>
            <a:ext cx="512064" cy="384048"/>
          </a:xfrm>
          <a:prstGeom prst="ellipse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08960" y="3163824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D90B8"/>
                </a:solidFill>
                <a:latin typeface="Calibri"/>
              </a:rPr>
              <a:t>min 2 → max 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3520440"/>
            <a:ext cx="6400800" cy="932688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19050">
            <a:solidFill>
              <a:srgbClr val="FFD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3611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F0FF"/>
                </a:solidFill>
                <a:latin typeface="Calibri"/>
              </a:rPr>
              <a:t>frontend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40233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D90B8"/>
                </a:solidFill>
                <a:latin typeface="Calibri"/>
              </a:rPr>
              <a:t>Trigger: CPU 60%</a:t>
            </a:r>
          </a:p>
        </p:txBody>
      </p:sp>
      <p:sp>
        <p:nvSpPr>
          <p:cNvPr id="32" name="Oval 31"/>
          <p:cNvSpPr/>
          <p:nvPr/>
        </p:nvSpPr>
        <p:spPr>
          <a:xfrm>
            <a:off x="3108960" y="3794760"/>
            <a:ext cx="512064" cy="384048"/>
          </a:xfrm>
          <a:prstGeom prst="ellipse">
            <a:avLst/>
          </a:prstGeom>
          <a:solidFill>
            <a:srgbClr val="FFD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657600" y="3794760"/>
            <a:ext cx="512064" cy="384048"/>
          </a:xfrm>
          <a:prstGeom prst="ellipse">
            <a:avLst/>
          </a:prstGeom>
          <a:solidFill>
            <a:srgbClr val="FFD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206240" y="3794760"/>
            <a:ext cx="512064" cy="384048"/>
          </a:xfrm>
          <a:prstGeom prst="ellipse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754880" y="3794760"/>
            <a:ext cx="512064" cy="384048"/>
          </a:xfrm>
          <a:prstGeom prst="ellipse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303520" y="3794760"/>
            <a:ext cx="512064" cy="384048"/>
          </a:xfrm>
          <a:prstGeom prst="ellipse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852160" y="3794760"/>
            <a:ext cx="512064" cy="384048"/>
          </a:xfrm>
          <a:prstGeom prst="ellipse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08960" y="4215384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D90B8"/>
                </a:solidFill>
                <a:latin typeface="Calibri"/>
              </a:rPr>
              <a:t>min 2 → max 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96012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7A45"/>
                </a:solidFill>
                <a:latin typeface="Calibri"/>
              </a:rPr>
              <a:t>Cluster Autoscaler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949440" y="1417320"/>
            <a:ext cx="5029200" cy="932688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1905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949440" y="1417320"/>
            <a:ext cx="91440" cy="93268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50608" y="150876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F0FF"/>
                </a:solidFill>
                <a:latin typeface="Calibri"/>
              </a:rPr>
              <a:t>Scale-Up Trigger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50608" y="192024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D90B8"/>
                </a:solidFill>
                <a:latin typeface="Calibri"/>
              </a:rPr>
              <a:t>Any pod stuck Pending due to
insufficient CPU/memory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949440" y="2468880"/>
            <a:ext cx="5029200" cy="932688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19050"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949440" y="2468880"/>
            <a:ext cx="91440" cy="932688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150608" y="256032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F0FF"/>
                </a:solidFill>
                <a:latin typeface="Calibri"/>
              </a:rPr>
              <a:t>Scale-Down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50608" y="297180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D90B8"/>
                </a:solidFill>
                <a:latin typeface="Calibri"/>
              </a:rPr>
              <a:t>Node underutilized for 10 min
(expander: least-waste)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949440" y="3520440"/>
            <a:ext cx="5029200" cy="932688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19050">
            <a:solidFill>
              <a:srgbClr val="3D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949440" y="3520440"/>
            <a:ext cx="91440" cy="932688"/>
          </a:xfrm>
          <a:prstGeom prst="rect">
            <a:avLst/>
          </a:prstGeom>
          <a:solidFill>
            <a:srgbClr val="3D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50608" y="361188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F0FF"/>
                </a:solidFill>
                <a:latin typeface="Calibri"/>
              </a:rPr>
              <a:t>ASG Range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50608" y="402336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D90B8"/>
                </a:solidFill>
                <a:latin typeface="Calibri"/>
              </a:rPr>
              <a:t>min: 1 node  →  max: 4 nodes
t3.medium — 2vCPU / 4GB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949440" y="4572000"/>
            <a:ext cx="5029200" cy="932688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19050">
            <a:solidFill>
              <a:srgbClr val="FFD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949440" y="4572000"/>
            <a:ext cx="91440" cy="932688"/>
          </a:xfrm>
          <a:prstGeom prst="rect">
            <a:avLst/>
          </a:prstGeom>
          <a:solidFill>
            <a:srgbClr val="FFD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150608" y="466344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F0FF"/>
                </a:solidFill>
                <a:latin typeface="Calibri"/>
              </a:rPr>
              <a:t>ASG Tags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50608" y="507492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D90B8"/>
                </a:solidFill>
                <a:latin typeface="Calibri"/>
              </a:rPr>
              <a:t>k8s.io/cluster-autoscaler/enabled
pre-configured in cluster-config.yaml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74320" y="6080760"/>
            <a:ext cx="11658600" cy="566928"/>
          </a:xfrm>
          <a:prstGeom prst="roundRect">
            <a:avLst>
              <a:gd name="adj" fmla="val 5000"/>
            </a:avLst>
          </a:prstGeom>
          <a:solidFill>
            <a:srgbClr val="171F35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11480" y="61081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D7AFF"/>
                </a:solidFill>
                <a:latin typeface="Calibri"/>
              </a:rPr>
              <a:t>PodDisruptionBudget  ·  minAvailable: 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566160" y="61081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D90B8"/>
                </a:solidFill>
                <a:latin typeface="Calibri"/>
              </a:rPr>
              <a:t>auth-service · streaming-service · frontend  —  Guarantees ≥ 1 pod survives node drains and cluster upgrades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3D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12188952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Security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D90B8"/>
                </a:solidFill>
                <a:latin typeface="Calibri"/>
              </a:rPr>
              <a:t>Zero Static Credentials · RBAC · CORS · JWT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960120"/>
            <a:ext cx="1170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96"/>
                </a:solidFill>
                <a:latin typeface="Calibri"/>
              </a:rPr>
              <a:t>Zero Static Credentials Principle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417320"/>
            <a:ext cx="3749039" cy="1353312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19050">
            <a:solidFill>
              <a:srgbClr val="3D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91440" cy="1353312"/>
          </a:xfrm>
          <a:prstGeom prst="rect">
            <a:avLst/>
          </a:prstGeom>
          <a:solidFill>
            <a:srgbClr val="3D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087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8F0FF"/>
                </a:solidFill>
                <a:latin typeface="Calibri"/>
              </a:rPr>
              <a:t>Jenkins EC2 → AWS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920240"/>
            <a:ext cx="2377440" cy="274320"/>
          </a:xfrm>
          <a:prstGeom prst="roundRect">
            <a:avLst>
              <a:gd name="adj" fmla="val 5000"/>
            </a:avLst>
          </a:prstGeom>
          <a:solidFill>
            <a:srgbClr val="122139"/>
          </a:solidFill>
          <a:ln w="12700">
            <a:solidFill>
              <a:srgbClr val="3D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929384"/>
            <a:ext cx="2340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3D8EFF"/>
                </a:solidFill>
                <a:latin typeface="Calibri"/>
              </a:rPr>
              <a:t>IAM Instance Profile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33172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D90B8"/>
                </a:solidFill>
                <a:latin typeface="Calibri"/>
              </a:rPr>
              <a:t>StreamingApp-EC2-Role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59" y="1417320"/>
            <a:ext cx="3749039" cy="1353312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59" y="1417320"/>
            <a:ext cx="91440" cy="135331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39" y="15087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8F0FF"/>
                </a:solidFill>
                <a:latin typeface="Calibri"/>
              </a:rPr>
              <a:t>EKS Nodes → ECR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39" y="1920240"/>
            <a:ext cx="2377440" cy="274320"/>
          </a:xfrm>
          <a:prstGeom prst="roundRect">
            <a:avLst>
              <a:gd name="adj" fmla="val 5000"/>
            </a:avLst>
          </a:prstGeom>
          <a:solidFill>
            <a:srgbClr val="083139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53127" y="1929384"/>
            <a:ext cx="2340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0E5FF"/>
                </a:solidFill>
                <a:latin typeface="Calibri"/>
              </a:rPr>
              <a:t>Node IAM Role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39" y="233172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D90B8"/>
                </a:solidFill>
                <a:latin typeface="Calibri"/>
              </a:rPr>
              <a:t>imageBuilder addon policy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598" y="1417320"/>
            <a:ext cx="3749039" cy="1353312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1905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598" y="1417320"/>
            <a:ext cx="91440" cy="135331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8" y="15087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8F0FF"/>
                </a:solidFill>
                <a:latin typeface="Calibri"/>
              </a:rPr>
              <a:t>EKS Nodes → S3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78" y="1920240"/>
            <a:ext cx="2377440" cy="274320"/>
          </a:xfrm>
          <a:prstGeom prst="roundRect">
            <a:avLst>
              <a:gd name="adj" fmla="val 5000"/>
            </a:avLst>
          </a:prstGeom>
          <a:solidFill>
            <a:srgbClr val="083127"/>
          </a:solidFill>
          <a:ln w="1270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30766" y="1929384"/>
            <a:ext cx="2340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0E596"/>
                </a:solidFill>
                <a:latin typeface="Calibri"/>
              </a:rPr>
              <a:t>Node IAM Role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8" y="233172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D90B8"/>
                </a:solidFill>
                <a:latin typeface="Calibri"/>
              </a:rPr>
              <a:t>AmazonS3FullAccess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2898648"/>
            <a:ext cx="3749039" cy="1353312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19050">
            <a:solidFill>
              <a:srgbClr val="FFD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2898648"/>
            <a:ext cx="91440" cy="1353312"/>
          </a:xfrm>
          <a:prstGeom prst="rect">
            <a:avLst/>
          </a:prstGeom>
          <a:solidFill>
            <a:srgbClr val="FFD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299008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8F0FF"/>
                </a:solidFill>
                <a:latin typeface="Calibri"/>
              </a:rPr>
              <a:t>kubectl → EKS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401568"/>
            <a:ext cx="2377440" cy="274320"/>
          </a:xfrm>
          <a:prstGeom prst="roundRect">
            <a:avLst>
              <a:gd name="adj" fmla="val 5000"/>
            </a:avLst>
          </a:prstGeom>
          <a:solidFill>
            <a:srgbClr val="352D16"/>
          </a:solidFill>
          <a:ln w="12700">
            <a:solidFill>
              <a:srgbClr val="FFD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" y="3410712"/>
            <a:ext cx="2340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D03A"/>
                </a:solidFill>
                <a:latin typeface="Calibri"/>
              </a:rPr>
              <a:t>aws-auth ConfigMap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81304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D90B8"/>
                </a:solidFill>
                <a:latin typeface="Calibri"/>
              </a:rPr>
              <a:t>Instance profile → system:masters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51959" y="2898648"/>
            <a:ext cx="3749039" cy="1353312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19050">
            <a:solidFill>
              <a:srgbClr val="FF7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51959" y="2898648"/>
            <a:ext cx="91440" cy="1353312"/>
          </a:xfrm>
          <a:prstGeom prst="rect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34839" y="299008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8F0FF"/>
                </a:solidFill>
                <a:latin typeface="Calibri"/>
              </a:rPr>
              <a:t>Pods → MongoDB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34839" y="3401568"/>
            <a:ext cx="2377440" cy="274320"/>
          </a:xfrm>
          <a:prstGeom prst="roundRect">
            <a:avLst>
              <a:gd name="adj" fmla="val 5000"/>
            </a:avLst>
          </a:prstGeom>
          <a:solidFill>
            <a:srgbClr val="351D18"/>
          </a:solidFill>
          <a:ln w="12700">
            <a:solidFill>
              <a:srgbClr val="FF7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53127" y="3410712"/>
            <a:ext cx="2340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7A45"/>
                </a:solidFill>
                <a:latin typeface="Calibri"/>
              </a:rPr>
              <a:t>Kubernetes Secret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34839" y="381304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D90B8"/>
                </a:solidFill>
                <a:latin typeface="Calibri"/>
              </a:rPr>
              <a:t>app-secrets (encrypted at rest in etcd)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4320" y="5961888"/>
            <a:ext cx="11658600" cy="658368"/>
          </a:xfrm>
          <a:prstGeom prst="roundRect">
            <a:avLst>
              <a:gd name="adj" fmla="val 5000"/>
            </a:avLst>
          </a:prstGeom>
          <a:solidFill>
            <a:srgbClr val="171F35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598932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03A"/>
                </a:solidFill>
                <a:latin typeface="Calibri"/>
              </a:rPr>
              <a:t>Additional Security Layers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0" y="6007608"/>
            <a:ext cx="8641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D90B8"/>
                </a:solidFill>
                <a:latin typeface="Calibri"/>
              </a:rPr>
              <a:t>.dockerignore prevents .env in images  ·  Non-root user in healing controller  ·  CORS origin validation on all services  ·  JWT tokens for all authenticated calls  ·  CloudWatch EKS control-plane audit logging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3D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12188952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Key Challenges &amp;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D90B8"/>
                </a:solidFill>
                <a:latin typeface="Calibri"/>
              </a:rPr>
              <a:t>10 production issues encountered and resolved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" y="960120"/>
            <a:ext cx="5760720" cy="1261872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19050">
            <a:solidFill>
              <a:srgbClr val="3D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" y="960120"/>
            <a:ext cx="91440" cy="1261872"/>
          </a:xfrm>
          <a:prstGeom prst="rect">
            <a:avLst/>
          </a:prstGeom>
          <a:solidFill>
            <a:srgbClr val="3D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03327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8F0FF"/>
                </a:solidFill>
                <a:latin typeface="Calibri"/>
              </a:rPr>
              <a:t>kubectl 401 Unauthorized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43560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D90B8"/>
                </a:solidFill>
                <a:latin typeface="Calibri"/>
              </a:rPr>
              <a:t>Cause: ~/.aws/credentials overrode instance profile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737360"/>
            <a:ext cx="5394960" cy="18288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80136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D8EFF"/>
                </a:solidFill>
                <a:latin typeface="Calibri"/>
              </a:rPr>
              <a:t>Fix: mv credentials .bak — instance profile wins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1168" y="2377440"/>
            <a:ext cx="5760720" cy="1261872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19050">
            <a:solidFill>
              <a:srgbClr val="FF7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1168" y="2377440"/>
            <a:ext cx="91440" cy="1261872"/>
          </a:xfrm>
          <a:prstGeom prst="rect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245059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8F0FF"/>
                </a:solidFill>
                <a:latin typeface="Calibri"/>
              </a:rPr>
              <a:t>NLB Internal (not internet-facing)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285292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D90B8"/>
                </a:solidFill>
                <a:latin typeface="Calibri"/>
              </a:rPr>
              <a:t>Cause: Missing annotation on ingress service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3154680"/>
            <a:ext cx="5394960" cy="18288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321868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7A45"/>
                </a:solidFill>
                <a:latin typeface="Calibri"/>
              </a:rPr>
              <a:t>Fix: Added aws-load-balancer-scheme=internet-facing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1168" y="3794760"/>
            <a:ext cx="5760720" cy="1261872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19050">
            <a:solidFill>
              <a:srgbClr val="FFD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01168" y="3794760"/>
            <a:ext cx="91440" cy="1261872"/>
          </a:xfrm>
          <a:prstGeom prst="rect">
            <a:avLst/>
          </a:prstGeom>
          <a:solidFill>
            <a:srgbClr val="FFD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386791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8F0FF"/>
                </a:solidFill>
                <a:latin typeface="Calibri"/>
              </a:rPr>
              <a:t>Frontend PLACEHOLDER URLs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427024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D90B8"/>
                </a:solidFill>
                <a:latin typeface="Calibri"/>
              </a:rPr>
              <a:t>Cause: Docker cached compiled JS bundle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4572000"/>
            <a:ext cx="5394960" cy="18288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463600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D03A"/>
                </a:solidFill>
                <a:latin typeface="Calibri"/>
              </a:rPr>
              <a:t>Fix: docker build --no-cache to force recompile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01168" y="5212080"/>
            <a:ext cx="5760720" cy="1261872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19050"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5212080"/>
            <a:ext cx="91440" cy="1261872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4048" y="528523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8F0FF"/>
                </a:solidFill>
                <a:latin typeface="Calibri"/>
              </a:rPr>
              <a:t>CORS errors after URL change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568756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D90B8"/>
                </a:solidFill>
                <a:latin typeface="Calibri"/>
              </a:rPr>
              <a:t>Cause: Pods cached old ConfigMap value in memory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" y="5989320"/>
            <a:ext cx="5394960" cy="18288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8" y="605332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4D6D"/>
                </a:solidFill>
                <a:latin typeface="Calibri"/>
              </a:rPr>
              <a:t>Fix: kubectl rollout restart all services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960120"/>
            <a:ext cx="5760720" cy="1261872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960120"/>
            <a:ext cx="91440" cy="12618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103327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8F0FF"/>
                </a:solidFill>
                <a:latin typeface="Calibri"/>
              </a:rPr>
              <a:t>Auth 404 on /api/auth/login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143560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D90B8"/>
                </a:solidFill>
                <a:latin typeface="Calibri"/>
              </a:rPr>
              <a:t>Cause: Route mounted at /api not /api/auth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1737360"/>
            <a:ext cx="5394960" cy="18288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180136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E5FF"/>
                </a:solidFill>
                <a:latin typeface="Calibri"/>
              </a:rPr>
              <a:t>Fix: Fixed: app.use('/api/auth', route)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2377440"/>
            <a:ext cx="5760720" cy="1261872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1905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17920" y="2377440"/>
            <a:ext cx="91440" cy="126187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245059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8F0FF"/>
                </a:solidFill>
                <a:latin typeface="Calibri"/>
              </a:rPr>
              <a:t>Streaming doubled path prefix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285292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D90B8"/>
                </a:solidFill>
                <a:latin typeface="Calibri"/>
              </a:rPr>
              <a:t>Cause: React baseURL + route path concatenation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3154680"/>
            <a:ext cx="5394960" cy="18288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321868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E596"/>
                </a:solidFill>
                <a:latin typeface="Calibri"/>
              </a:rPr>
              <a:t>Fix: Dual mount: /api/streaming + /api/streaming/streaming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17920" y="3794760"/>
            <a:ext cx="5760720" cy="1261872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19050">
            <a:solidFill>
              <a:srgbClr val="BD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17920" y="3794760"/>
            <a:ext cx="91440" cy="1261872"/>
          </a:xfrm>
          <a:prstGeom prst="rect">
            <a:avLst/>
          </a:prstGeom>
          <a:solidFill>
            <a:srgbClr val="BD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386791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8F0FF"/>
                </a:solidFill>
                <a:latin typeface="Calibri"/>
              </a:rPr>
              <a:t>S3 InvalidAccessKeyId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427024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D90B8"/>
                </a:solidFill>
                <a:latin typeface="Calibri"/>
              </a:rPr>
              <a:t>Cause: Placeholder string in Kubernetes Secret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4572000"/>
            <a:ext cx="5394960" cy="18288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0" y="463600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BD7AFF"/>
                </a:solidFill>
                <a:latin typeface="Calibri"/>
              </a:rPr>
              <a:t>Fix: Empty string → SDK falls back to instance profile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17920" y="5212080"/>
            <a:ext cx="5760720" cy="1261872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19050">
            <a:solidFill>
              <a:srgbClr val="7D9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17920" y="5212080"/>
            <a:ext cx="91440" cy="1261872"/>
          </a:xfrm>
          <a:prstGeom prst="rect">
            <a:avLst/>
          </a:prstGeom>
          <a:solidFill>
            <a:srgbClr val="7D9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0" y="528523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8F0FF"/>
                </a:solidFill>
                <a:latin typeface="Calibri"/>
              </a:rPr>
              <a:t>Healer blocked debugging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568756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D90B8"/>
                </a:solidFill>
                <a:latin typeface="Calibri"/>
              </a:rPr>
              <a:t>Cause: Controller deleting pods during investigation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00800" y="5989320"/>
            <a:ext cx="5394960" cy="18288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0" y="605332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7D90B8"/>
                </a:solidFill>
                <a:latin typeface="Calibri"/>
              </a:rPr>
              <a:t>Fix: kubectl scale healing-controller --replicas=0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3D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12188952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Cost Analysis &amp; Optimisation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D90B8"/>
                </a:solidFill>
                <a:latin typeface="Calibri"/>
              </a:rPr>
              <a:t>~$220/month · 10% evaluation criterion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9601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F0FF"/>
                </a:solidFill>
                <a:latin typeface="Calibri"/>
              </a:rPr>
              <a:t>Monthly Cost Breakdown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41732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D90B8"/>
                </a:solidFill>
                <a:latin typeface="Calibri"/>
              </a:rPr>
              <a:t>EKS Control Plane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1490472"/>
            <a:ext cx="3200400" cy="292608"/>
          </a:xfrm>
          <a:prstGeom prst="roundRect">
            <a:avLst>
              <a:gd name="adj" fmla="val 5000"/>
            </a:avLst>
          </a:prstGeom>
          <a:solidFill>
            <a:srgbClr val="122139"/>
          </a:solidFill>
          <a:ln w="12700">
            <a:solidFill>
              <a:srgbClr val="3D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15087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D8EFF"/>
                </a:solidFill>
                <a:latin typeface="Calibri"/>
              </a:rPr>
              <a:t>$73.00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07568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D90B8"/>
                </a:solidFill>
                <a:latin typeface="Calibri"/>
              </a:rPr>
              <a:t>EC2 Worker Nodes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0360" y="2148840"/>
            <a:ext cx="2645810" cy="292608"/>
          </a:xfrm>
          <a:prstGeom prst="roundRect">
            <a:avLst>
              <a:gd name="adj" fmla="val 5000"/>
            </a:avLst>
          </a:prstGeom>
          <a:solidFill>
            <a:srgbClr val="083139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71890" y="21671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FF"/>
                </a:solidFill>
                <a:latin typeface="Calibri"/>
              </a:rPr>
              <a:t>$60.35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2734056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D90B8"/>
                </a:solidFill>
                <a:latin typeface="Calibri"/>
              </a:rPr>
              <a:t>EC2 Jenkins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0360" y="2807208"/>
            <a:ext cx="1322685" cy="292608"/>
          </a:xfrm>
          <a:prstGeom prst="roundRect">
            <a:avLst>
              <a:gd name="adj" fmla="val 5000"/>
            </a:avLst>
          </a:prstGeom>
          <a:solidFill>
            <a:srgbClr val="083127"/>
          </a:solidFill>
          <a:ln w="1270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48765" y="282549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96"/>
                </a:solidFill>
                <a:latin typeface="Calibri"/>
              </a:rPr>
              <a:t>$30.17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3392424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D90B8"/>
                </a:solidFill>
                <a:latin typeface="Calibri"/>
              </a:rPr>
              <a:t>NAT Gateway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80360" y="3465576"/>
            <a:ext cx="1440180" cy="292608"/>
          </a:xfrm>
          <a:prstGeom prst="roundRect">
            <a:avLst>
              <a:gd name="adj" fmla="val 5000"/>
            </a:avLst>
          </a:prstGeom>
          <a:solidFill>
            <a:srgbClr val="351D18"/>
          </a:solidFill>
          <a:ln w="12700">
            <a:solidFill>
              <a:srgbClr val="FF7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66260" y="348386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A45"/>
                </a:solidFill>
                <a:latin typeface="Calibri"/>
              </a:rPr>
              <a:t>$32.85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405079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D90B8"/>
                </a:solidFill>
                <a:latin typeface="Calibri"/>
              </a:rPr>
              <a:t>Network LB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80360" y="4123944"/>
            <a:ext cx="720309" cy="292608"/>
          </a:xfrm>
          <a:prstGeom prst="roundRect">
            <a:avLst>
              <a:gd name="adj" fmla="val 5000"/>
            </a:avLst>
          </a:prstGeom>
          <a:solidFill>
            <a:srgbClr val="352D16"/>
          </a:solidFill>
          <a:ln w="12700">
            <a:solidFill>
              <a:srgbClr val="FFD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46389" y="414223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03A"/>
                </a:solidFill>
                <a:latin typeface="Calibri"/>
              </a:rPr>
              <a:t>$16.43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470916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D90B8"/>
                </a:solidFill>
                <a:latin typeface="Calibri"/>
              </a:rPr>
              <a:t>EBS Volumes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80360" y="4782312"/>
            <a:ext cx="210437" cy="292608"/>
          </a:xfrm>
          <a:prstGeom prst="roundRect">
            <a:avLst>
              <a:gd name="adj" fmla="val 5000"/>
            </a:avLst>
          </a:prstGeom>
          <a:solidFill>
            <a:srgbClr val="2A1D39"/>
          </a:solidFill>
          <a:ln w="12700">
            <a:solidFill>
              <a:srgbClr val="BD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36517" y="48006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D7AFF"/>
                </a:solidFill>
                <a:latin typeface="Calibri"/>
              </a:rPr>
              <a:t>$4.80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536752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D90B8"/>
                </a:solidFill>
                <a:latin typeface="Calibri"/>
              </a:rPr>
              <a:t>ECR + S3 + CW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80360" y="5440680"/>
            <a:ext cx="119686" cy="292608"/>
          </a:xfrm>
          <a:prstGeom prst="roundRect">
            <a:avLst>
              <a:gd name="adj" fmla="val 5000"/>
            </a:avLst>
          </a:prstGeom>
          <a:solidFill>
            <a:srgbClr val="1E212D"/>
          </a:solidFill>
          <a:ln w="12700">
            <a:solidFill>
              <a:srgbClr val="7D9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5766" y="545896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D90B8"/>
                </a:solidFill>
                <a:latin typeface="Calibri"/>
              </a:rPr>
              <a:t>$2.73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6080760"/>
            <a:ext cx="5989320" cy="18288"/>
          </a:xfrm>
          <a:prstGeom prst="rect">
            <a:avLst/>
          </a:prstGeom>
          <a:solidFill>
            <a:srgbClr val="3D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144768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  <a:latin typeface="Calibri"/>
              </a:rPr>
              <a:t>TOTAL  ~$220 / month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960120"/>
            <a:ext cx="5440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E596"/>
                </a:solidFill>
                <a:latin typeface="Calibri"/>
              </a:rPr>
              <a:t>Cost Optimisations Applied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92240" y="1417320"/>
            <a:ext cx="5440680" cy="868680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1905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92240" y="1417320"/>
            <a:ext cx="91440" cy="86868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29400" y="150876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8F0FF"/>
                </a:solidFill>
                <a:latin typeface="Calibri"/>
              </a:rPr>
              <a:t>MongoDB Atlas Free Tier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194767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D90B8"/>
                </a:solidFill>
                <a:latin typeface="Calibri"/>
              </a:rPr>
              <a:t>Saves ~$57/month vs AWS DocumentDB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92240" y="2423160"/>
            <a:ext cx="5440680" cy="868680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19050">
            <a:solidFill>
              <a:srgbClr val="3D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92240" y="2423160"/>
            <a:ext cx="91440" cy="868680"/>
          </a:xfrm>
          <a:prstGeom prst="rect">
            <a:avLst/>
          </a:prstGeom>
          <a:solidFill>
            <a:srgbClr val="3D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29400" y="25146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8F0FF"/>
                </a:solidFill>
                <a:latin typeface="Calibri"/>
              </a:rPr>
              <a:t>Single NLB via nginx Ingress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295351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D90B8"/>
                </a:solidFill>
                <a:latin typeface="Calibri"/>
              </a:rPr>
              <a:t>Saves ~$65/month vs 1 ALB per service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92240" y="3429000"/>
            <a:ext cx="5440680" cy="868680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19050">
            <a:solidFill>
              <a:srgbClr val="FFD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92240" y="3429000"/>
            <a:ext cx="91440" cy="868680"/>
          </a:xfrm>
          <a:prstGeom prst="rect">
            <a:avLst/>
          </a:prstGeom>
          <a:solidFill>
            <a:srgbClr val="FFD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29400" y="352044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8F0FF"/>
                </a:solidFill>
                <a:latin typeface="Calibri"/>
              </a:rPr>
              <a:t>gp3 EBS Volumes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29400" y="395935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D90B8"/>
                </a:solidFill>
                <a:latin typeface="Calibri"/>
              </a:rPr>
              <a:t>20% cheaper than gp2, better throughput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92240" y="4434840"/>
            <a:ext cx="5440680" cy="868680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19050">
            <a:solidFill>
              <a:srgbClr val="FF7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92240" y="4434840"/>
            <a:ext cx="91440" cy="868680"/>
          </a:xfrm>
          <a:prstGeom prst="rect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29400" y="452628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8F0FF"/>
                </a:solidFill>
                <a:latin typeface="Calibri"/>
              </a:rPr>
              <a:t>S3 for Video Storage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29400" y="496519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D90B8"/>
                </a:solidFill>
                <a:latin typeface="Calibri"/>
              </a:rPr>
              <a:t>Far cheaper than EBS for large files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92240" y="5440680"/>
            <a:ext cx="5440680" cy="868680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19050">
            <a:solidFill>
              <a:srgbClr val="BD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492240" y="5440680"/>
            <a:ext cx="91440" cy="868680"/>
          </a:xfrm>
          <a:prstGeom prst="rect">
            <a:avLst/>
          </a:prstGeom>
          <a:solidFill>
            <a:srgbClr val="BD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29400" y="553212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8F0FF"/>
                </a:solidFill>
                <a:latin typeface="Calibri"/>
              </a:rPr>
              <a:t>Spot Instances (Future)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29400" y="597103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D90B8"/>
                </a:solidFill>
                <a:latin typeface="Calibri"/>
              </a:rPr>
              <a:t>60–70% reduction on worker nodes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3D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12188952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Sprint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D90B8"/>
                </a:solidFill>
                <a:latin typeface="Calibri"/>
              </a:rPr>
              <a:t>6 Sprints × 20 Hours Each — All Deliverables Complete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" y="960120"/>
            <a:ext cx="5760720" cy="1737360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22860">
            <a:solidFill>
              <a:srgbClr val="3D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01168" y="960120"/>
            <a:ext cx="5760720" cy="475488"/>
          </a:xfrm>
          <a:prstGeom prst="roundRect">
            <a:avLst>
              <a:gd name="adj" fmla="val 5000"/>
            </a:avLst>
          </a:prstGeom>
          <a:solidFill>
            <a:srgbClr val="122139"/>
          </a:solidFill>
          <a:ln w="22860">
            <a:solidFill>
              <a:srgbClr val="3D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" y="1033272"/>
            <a:ext cx="5440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D8EFF"/>
                </a:solidFill>
                <a:latin typeface="Calibri"/>
              </a:rPr>
              <a:t>Sprint 1: Project Setup &amp; Cluster Access</a:t>
            </a:r>
          </a:p>
        </p:txBody>
      </p:sp>
      <p:sp>
        <p:nvSpPr>
          <p:cNvPr id="9" name="Oval 8"/>
          <p:cNvSpPr/>
          <p:nvPr/>
        </p:nvSpPr>
        <p:spPr>
          <a:xfrm>
            <a:off x="338328" y="1545336"/>
            <a:ext cx="182880" cy="182880"/>
          </a:xfrm>
          <a:prstGeom prst="ellipse">
            <a:avLst/>
          </a:prstGeom>
          <a:solidFill>
            <a:srgbClr val="3D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1536192"/>
            <a:ext cx="164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A0E1A"/>
                </a:solidFill>
                <a:latin typeface="Calibri"/>
              </a:rPr>
              <a:t>[OK]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1508760"/>
            <a:ext cx="52120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0FF"/>
                </a:solidFill>
                <a:latin typeface="Calibri"/>
              </a:rPr>
              <a:t>EKS cluster created (Kubernetes 1.32, AmazonLinux2023)</a:t>
            </a:r>
          </a:p>
        </p:txBody>
      </p:sp>
      <p:sp>
        <p:nvSpPr>
          <p:cNvPr id="12" name="Oval 11"/>
          <p:cNvSpPr/>
          <p:nvPr/>
        </p:nvSpPr>
        <p:spPr>
          <a:xfrm>
            <a:off x="338328" y="1847088"/>
            <a:ext cx="182880" cy="182880"/>
          </a:xfrm>
          <a:prstGeom prst="ellipse">
            <a:avLst/>
          </a:prstGeom>
          <a:solidFill>
            <a:srgbClr val="3D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1837944"/>
            <a:ext cx="164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A0E1A"/>
                </a:solidFill>
                <a:latin typeface="Calibri"/>
              </a:rPr>
              <a:t>[OK]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" y="1810512"/>
            <a:ext cx="52120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0FF"/>
                </a:solidFill>
                <a:latin typeface="Calibri"/>
              </a:rPr>
              <a:t>Jenkins EC2 bootstrapped with Docker, AWS CLI, Helm, kubectl</a:t>
            </a:r>
          </a:p>
        </p:txBody>
      </p:sp>
      <p:sp>
        <p:nvSpPr>
          <p:cNvPr id="15" name="Oval 14"/>
          <p:cNvSpPr/>
          <p:nvPr/>
        </p:nvSpPr>
        <p:spPr>
          <a:xfrm>
            <a:off x="338328" y="2148840"/>
            <a:ext cx="182880" cy="182880"/>
          </a:xfrm>
          <a:prstGeom prst="ellipse">
            <a:avLst/>
          </a:prstGeom>
          <a:solidFill>
            <a:srgbClr val="3D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" y="2139696"/>
            <a:ext cx="164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A0E1A"/>
                </a:solidFill>
                <a:latin typeface="Calibri"/>
              </a:rPr>
              <a:t>[OK]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" y="2112264"/>
            <a:ext cx="52120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0FF"/>
                </a:solidFill>
                <a:latin typeface="Calibri"/>
              </a:rPr>
              <a:t>IAM Instance Profile configured — zero static credentials</a:t>
            </a:r>
          </a:p>
        </p:txBody>
      </p:sp>
      <p:sp>
        <p:nvSpPr>
          <p:cNvPr id="18" name="Oval 17"/>
          <p:cNvSpPr/>
          <p:nvPr/>
        </p:nvSpPr>
        <p:spPr>
          <a:xfrm>
            <a:off x="338328" y="2450592"/>
            <a:ext cx="182880" cy="182880"/>
          </a:xfrm>
          <a:prstGeom prst="ellipse">
            <a:avLst/>
          </a:prstGeom>
          <a:solidFill>
            <a:srgbClr val="3D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" y="2441448"/>
            <a:ext cx="164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A0E1A"/>
                </a:solidFill>
                <a:latin typeface="Calibri"/>
              </a:rPr>
              <a:t>[OK]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" y="2414016"/>
            <a:ext cx="52120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0FF"/>
                </a:solidFill>
                <a:latin typeface="Calibri"/>
              </a:rPr>
              <a:t>Prometheus installed via kube-prometheus-stack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1168" y="2862072"/>
            <a:ext cx="5760720" cy="1737360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2286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01168" y="2862072"/>
            <a:ext cx="5760720" cy="475488"/>
          </a:xfrm>
          <a:prstGeom prst="roundRect">
            <a:avLst>
              <a:gd name="adj" fmla="val 5000"/>
            </a:avLst>
          </a:prstGeom>
          <a:solidFill>
            <a:srgbClr val="083139"/>
          </a:solidFill>
          <a:ln w="2286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" y="2935224"/>
            <a:ext cx="5440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FF"/>
                </a:solidFill>
                <a:latin typeface="Calibri"/>
              </a:rPr>
              <a:t>Sprint 2: Health Monitoring Module</a:t>
            </a:r>
          </a:p>
        </p:txBody>
      </p:sp>
      <p:sp>
        <p:nvSpPr>
          <p:cNvPr id="24" name="Oval 23"/>
          <p:cNvSpPr/>
          <p:nvPr/>
        </p:nvSpPr>
        <p:spPr>
          <a:xfrm>
            <a:off x="338328" y="3447288"/>
            <a:ext cx="182880" cy="18288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" y="3438144"/>
            <a:ext cx="164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A0E1A"/>
                </a:solidFill>
                <a:latin typeface="Calibri"/>
              </a:rPr>
              <a:t>[OK]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6" y="3410712"/>
            <a:ext cx="52120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0FF"/>
                </a:solidFill>
                <a:latin typeface="Calibri"/>
              </a:rPr>
              <a:t>Pod + node health checks via Prometheus kube-state-metrics</a:t>
            </a:r>
          </a:p>
        </p:txBody>
      </p:sp>
      <p:sp>
        <p:nvSpPr>
          <p:cNvPr id="27" name="Oval 26"/>
          <p:cNvSpPr/>
          <p:nvPr/>
        </p:nvSpPr>
        <p:spPr>
          <a:xfrm>
            <a:off x="338328" y="3749040"/>
            <a:ext cx="182880" cy="18288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7472" y="3739896"/>
            <a:ext cx="164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A0E1A"/>
                </a:solidFill>
                <a:latin typeface="Calibri"/>
              </a:rPr>
              <a:t>[OK]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" y="3712464"/>
            <a:ext cx="52120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0FF"/>
                </a:solidFill>
                <a:latin typeface="Calibri"/>
              </a:rPr>
              <a:t>5 PrometheusRule alerts (CrashLooping, OOMKilled, PodPending, CPU, Memory)</a:t>
            </a:r>
          </a:p>
        </p:txBody>
      </p:sp>
      <p:sp>
        <p:nvSpPr>
          <p:cNvPr id="30" name="Oval 29"/>
          <p:cNvSpPr/>
          <p:nvPr/>
        </p:nvSpPr>
        <p:spPr>
          <a:xfrm>
            <a:off x="338328" y="4050792"/>
            <a:ext cx="182880" cy="18288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7472" y="4041648"/>
            <a:ext cx="164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A0E1A"/>
                </a:solidFill>
                <a:latin typeface="Calibri"/>
              </a:rPr>
              <a:t>[OK]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5216" y="4014216"/>
            <a:ext cx="52120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0FF"/>
                </a:solidFill>
                <a:latin typeface="Calibri"/>
              </a:rPr>
              <a:t>Grafana dashboards: Cluster overview + Node Exporter Full (ID 1860)</a:t>
            </a:r>
          </a:p>
        </p:txBody>
      </p:sp>
      <p:sp>
        <p:nvSpPr>
          <p:cNvPr id="33" name="Oval 32"/>
          <p:cNvSpPr/>
          <p:nvPr/>
        </p:nvSpPr>
        <p:spPr>
          <a:xfrm>
            <a:off x="338328" y="4352544"/>
            <a:ext cx="182880" cy="18288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7472" y="4343400"/>
            <a:ext cx="164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A0E1A"/>
                </a:solidFill>
                <a:latin typeface="Calibri"/>
              </a:rPr>
              <a:t>[OK]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5216" y="4315968"/>
            <a:ext cx="52120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0FF"/>
                </a:solidFill>
                <a:latin typeface="Calibri"/>
              </a:rPr>
              <a:t>15s scrape interval, 30s dashboard auto-refresh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01168" y="4764024"/>
            <a:ext cx="5760720" cy="1737360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2286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01168" y="4764024"/>
            <a:ext cx="5760720" cy="475488"/>
          </a:xfrm>
          <a:prstGeom prst="roundRect">
            <a:avLst>
              <a:gd name="adj" fmla="val 5000"/>
            </a:avLst>
          </a:prstGeom>
          <a:solidFill>
            <a:srgbClr val="083127"/>
          </a:solidFill>
          <a:ln w="2286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8328" y="4837176"/>
            <a:ext cx="5440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96"/>
                </a:solidFill>
                <a:latin typeface="Calibri"/>
              </a:rPr>
              <a:t>Sprint 3: Self-Healing Mechanisms</a:t>
            </a:r>
          </a:p>
        </p:txBody>
      </p:sp>
      <p:sp>
        <p:nvSpPr>
          <p:cNvPr id="39" name="Oval 38"/>
          <p:cNvSpPr/>
          <p:nvPr/>
        </p:nvSpPr>
        <p:spPr>
          <a:xfrm>
            <a:off x="338328" y="5349240"/>
            <a:ext cx="182880" cy="182880"/>
          </a:xfrm>
          <a:prstGeom prst="ellipse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7472" y="5340096"/>
            <a:ext cx="164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A0E1A"/>
                </a:solidFill>
                <a:latin typeface="Calibri"/>
              </a:rPr>
              <a:t>[OK]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5216" y="5312664"/>
            <a:ext cx="52120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0FF"/>
                </a:solidFill>
                <a:latin typeface="Calibri"/>
              </a:rPr>
              <a:t>Python 3.11 controller with Kubernetes Watch stream + 60s periodic scan</a:t>
            </a:r>
          </a:p>
        </p:txBody>
      </p:sp>
      <p:sp>
        <p:nvSpPr>
          <p:cNvPr id="42" name="Oval 41"/>
          <p:cNvSpPr/>
          <p:nvPr/>
        </p:nvSpPr>
        <p:spPr>
          <a:xfrm>
            <a:off x="338328" y="5650992"/>
            <a:ext cx="182880" cy="182880"/>
          </a:xfrm>
          <a:prstGeom prst="ellipse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7472" y="5641848"/>
            <a:ext cx="164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A0E1A"/>
                </a:solidFill>
                <a:latin typeface="Calibri"/>
              </a:rPr>
              <a:t>[OK]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5216" y="5614416"/>
            <a:ext cx="52120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0FF"/>
                </a:solidFill>
                <a:latin typeface="Calibri"/>
              </a:rPr>
              <a:t>CrashLoopBackOff, OOMKilled, Evicted detection and remediation</a:t>
            </a:r>
          </a:p>
        </p:txBody>
      </p:sp>
      <p:sp>
        <p:nvSpPr>
          <p:cNvPr id="45" name="Oval 44"/>
          <p:cNvSpPr/>
          <p:nvPr/>
        </p:nvSpPr>
        <p:spPr>
          <a:xfrm>
            <a:off x="338328" y="5952744"/>
            <a:ext cx="182880" cy="182880"/>
          </a:xfrm>
          <a:prstGeom prst="ellipse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47472" y="5943600"/>
            <a:ext cx="164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A0E1A"/>
                </a:solidFill>
                <a:latin typeface="Calibri"/>
              </a:rPr>
              <a:t>[OK]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5216" y="5916168"/>
            <a:ext cx="52120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0FF"/>
                </a:solidFill>
                <a:latin typeface="Calibri"/>
              </a:rPr>
              <a:t>5-minute cooldown per pod — prevents healing storms</a:t>
            </a:r>
          </a:p>
        </p:txBody>
      </p:sp>
      <p:sp>
        <p:nvSpPr>
          <p:cNvPr id="48" name="Oval 47"/>
          <p:cNvSpPr/>
          <p:nvPr/>
        </p:nvSpPr>
        <p:spPr>
          <a:xfrm>
            <a:off x="338328" y="6254496"/>
            <a:ext cx="182880" cy="182880"/>
          </a:xfrm>
          <a:prstGeom prst="ellipse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47472" y="6245352"/>
            <a:ext cx="164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A0E1A"/>
                </a:solidFill>
                <a:latin typeface="Calibri"/>
              </a:rPr>
              <a:t>[OK]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5216" y="6217920"/>
            <a:ext cx="52120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0FF"/>
                </a:solidFill>
                <a:latin typeface="Calibri"/>
              </a:rPr>
              <a:t>Structured JSON audit log to stdout + /var/log/healing/actions.log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17920" y="960120"/>
            <a:ext cx="5760720" cy="1737360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22860">
            <a:solidFill>
              <a:srgbClr val="FF7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217920" y="960120"/>
            <a:ext cx="5760720" cy="475488"/>
          </a:xfrm>
          <a:prstGeom prst="roundRect">
            <a:avLst>
              <a:gd name="adj" fmla="val 5000"/>
            </a:avLst>
          </a:prstGeom>
          <a:solidFill>
            <a:srgbClr val="351D18"/>
          </a:solidFill>
          <a:ln w="22860">
            <a:solidFill>
              <a:srgbClr val="FF7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55080" y="1033272"/>
            <a:ext cx="5440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A45"/>
                </a:solidFill>
                <a:latin typeface="Calibri"/>
              </a:rPr>
              <a:t>Sprint 4: Node Scaling &amp; Resource Balancing</a:t>
            </a:r>
          </a:p>
        </p:txBody>
      </p:sp>
      <p:sp>
        <p:nvSpPr>
          <p:cNvPr id="54" name="Oval 53"/>
          <p:cNvSpPr/>
          <p:nvPr/>
        </p:nvSpPr>
        <p:spPr>
          <a:xfrm>
            <a:off x="6355080" y="1545336"/>
            <a:ext cx="182880" cy="182880"/>
          </a:xfrm>
          <a:prstGeom prst="ellipse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64224" y="1536192"/>
            <a:ext cx="164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A0E1A"/>
                </a:solidFill>
                <a:latin typeface="Calibri"/>
              </a:rPr>
              <a:t>[OK]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01968" y="1508760"/>
            <a:ext cx="52120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0FF"/>
                </a:solidFill>
                <a:latin typeface="Calibri"/>
              </a:rPr>
              <a:t>HPA: streaming (max 8), auth (max 6), frontend (max 6)</a:t>
            </a:r>
          </a:p>
        </p:txBody>
      </p:sp>
      <p:sp>
        <p:nvSpPr>
          <p:cNvPr id="57" name="Oval 56"/>
          <p:cNvSpPr/>
          <p:nvPr/>
        </p:nvSpPr>
        <p:spPr>
          <a:xfrm>
            <a:off x="6355080" y="1847088"/>
            <a:ext cx="182880" cy="182880"/>
          </a:xfrm>
          <a:prstGeom prst="ellipse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64224" y="1837944"/>
            <a:ext cx="164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A0E1A"/>
                </a:solidFill>
                <a:latin typeface="Calibri"/>
              </a:rPr>
              <a:t>[OK]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01968" y="1810512"/>
            <a:ext cx="52120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0FF"/>
                </a:solidFill>
                <a:latin typeface="Calibri"/>
              </a:rPr>
              <a:t>PodDisruptionBudget: minAvailable=1 for critical services</a:t>
            </a:r>
          </a:p>
        </p:txBody>
      </p:sp>
      <p:sp>
        <p:nvSpPr>
          <p:cNvPr id="60" name="Oval 59"/>
          <p:cNvSpPr/>
          <p:nvPr/>
        </p:nvSpPr>
        <p:spPr>
          <a:xfrm>
            <a:off x="6355080" y="2148840"/>
            <a:ext cx="182880" cy="182880"/>
          </a:xfrm>
          <a:prstGeom prst="ellipse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64224" y="2139696"/>
            <a:ext cx="164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A0E1A"/>
                </a:solidFill>
                <a:latin typeface="Calibri"/>
              </a:rPr>
              <a:t>[OK]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01968" y="2112264"/>
            <a:ext cx="52120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0FF"/>
                </a:solidFill>
                <a:latin typeface="Calibri"/>
              </a:rPr>
              <a:t>Cluster Autoscaler ASG tags pre-configured (min 1, max 4 nodes)</a:t>
            </a:r>
          </a:p>
        </p:txBody>
      </p:sp>
      <p:sp>
        <p:nvSpPr>
          <p:cNvPr id="63" name="Oval 62"/>
          <p:cNvSpPr/>
          <p:nvPr/>
        </p:nvSpPr>
        <p:spPr>
          <a:xfrm>
            <a:off x="6355080" y="2450592"/>
            <a:ext cx="182880" cy="182880"/>
          </a:xfrm>
          <a:prstGeom prst="ellipse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364224" y="2441448"/>
            <a:ext cx="164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A0E1A"/>
                </a:solidFill>
                <a:latin typeface="Calibri"/>
              </a:rPr>
              <a:t>[OK]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601968" y="2414016"/>
            <a:ext cx="52120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0FF"/>
                </a:solidFill>
                <a:latin typeface="Calibri"/>
              </a:rPr>
              <a:t>Resource requests tuned to fit t3.medium (2vCPU/4GB) nodes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217920" y="2862072"/>
            <a:ext cx="5760720" cy="1737360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22860">
            <a:solidFill>
              <a:srgbClr val="FFD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6217920" y="2862072"/>
            <a:ext cx="5760720" cy="475488"/>
          </a:xfrm>
          <a:prstGeom prst="roundRect">
            <a:avLst>
              <a:gd name="adj" fmla="val 5000"/>
            </a:avLst>
          </a:prstGeom>
          <a:solidFill>
            <a:srgbClr val="352D16"/>
          </a:solidFill>
          <a:ln w="22860">
            <a:solidFill>
              <a:srgbClr val="FFD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355080" y="2935224"/>
            <a:ext cx="5440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03A"/>
                </a:solidFill>
                <a:latin typeface="Calibri"/>
              </a:rPr>
              <a:t>Sprint 5: Alerting &amp; Notification System</a:t>
            </a:r>
          </a:p>
        </p:txBody>
      </p:sp>
      <p:sp>
        <p:nvSpPr>
          <p:cNvPr id="69" name="Oval 68"/>
          <p:cNvSpPr/>
          <p:nvPr/>
        </p:nvSpPr>
        <p:spPr>
          <a:xfrm>
            <a:off x="6355080" y="3447288"/>
            <a:ext cx="182880" cy="182880"/>
          </a:xfrm>
          <a:prstGeom prst="ellipse">
            <a:avLst/>
          </a:prstGeom>
          <a:solidFill>
            <a:srgbClr val="FFD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64224" y="3438144"/>
            <a:ext cx="164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A0E1A"/>
                </a:solidFill>
                <a:latin typeface="Calibri"/>
              </a:rPr>
              <a:t>[OK]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601968" y="3410712"/>
            <a:ext cx="52120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0FF"/>
                </a:solidFill>
                <a:latin typeface="Calibri"/>
              </a:rPr>
              <a:t>AlertmanagerConfig CRD created with severity-based Slack routing</a:t>
            </a:r>
          </a:p>
        </p:txBody>
      </p:sp>
      <p:sp>
        <p:nvSpPr>
          <p:cNvPr id="72" name="Oval 71"/>
          <p:cNvSpPr/>
          <p:nvPr/>
        </p:nvSpPr>
        <p:spPr>
          <a:xfrm>
            <a:off x="6355080" y="3749040"/>
            <a:ext cx="182880" cy="182880"/>
          </a:xfrm>
          <a:prstGeom prst="ellipse">
            <a:avLst/>
          </a:prstGeom>
          <a:solidFill>
            <a:srgbClr val="FFD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364224" y="3739896"/>
            <a:ext cx="164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A0E1A"/>
                </a:solidFill>
                <a:latin typeface="Calibri"/>
              </a:rPr>
              <a:t>[OK]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601968" y="3712464"/>
            <a:ext cx="52120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0FF"/>
                </a:solidFill>
                <a:latin typeface="Calibri"/>
              </a:rPr>
              <a:t>Critical → #k8s-alerts, Warning → #k8s-warnings channels</a:t>
            </a:r>
          </a:p>
        </p:txBody>
      </p:sp>
      <p:sp>
        <p:nvSpPr>
          <p:cNvPr id="75" name="Oval 74"/>
          <p:cNvSpPr/>
          <p:nvPr/>
        </p:nvSpPr>
        <p:spPr>
          <a:xfrm>
            <a:off x="6355080" y="4050792"/>
            <a:ext cx="182880" cy="182880"/>
          </a:xfrm>
          <a:prstGeom prst="ellipse">
            <a:avLst/>
          </a:prstGeom>
          <a:solidFill>
            <a:srgbClr val="FFD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364224" y="4041648"/>
            <a:ext cx="164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A0E1A"/>
                </a:solidFill>
                <a:latin typeface="Calibri"/>
              </a:rPr>
              <a:t>[OK]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601968" y="4014216"/>
            <a:ext cx="52120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0FF"/>
                </a:solidFill>
                <a:latin typeface="Calibri"/>
              </a:rPr>
              <a:t>groupBy: alertname + namespace + pod, repeatInterval: 3h</a:t>
            </a:r>
          </a:p>
        </p:txBody>
      </p:sp>
      <p:sp>
        <p:nvSpPr>
          <p:cNvPr id="78" name="Oval 77"/>
          <p:cNvSpPr/>
          <p:nvPr/>
        </p:nvSpPr>
        <p:spPr>
          <a:xfrm>
            <a:off x="6355080" y="4352544"/>
            <a:ext cx="182880" cy="182880"/>
          </a:xfrm>
          <a:prstGeom prst="ellipse">
            <a:avLst/>
          </a:prstGeom>
          <a:solidFill>
            <a:srgbClr val="FFD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364224" y="4343400"/>
            <a:ext cx="164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A0E1A"/>
                </a:solidFill>
                <a:latin typeface="Calibri"/>
              </a:rPr>
              <a:t>[OK]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601968" y="4315968"/>
            <a:ext cx="52120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0FF"/>
                </a:solidFill>
                <a:latin typeface="Calibri"/>
              </a:rPr>
              <a:t>Slack secret stored as Kubernetes Secret (not in Git)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217920" y="4764024"/>
            <a:ext cx="5760720" cy="1737360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22860">
            <a:solidFill>
              <a:srgbClr val="BD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6217920" y="4764024"/>
            <a:ext cx="5760720" cy="475488"/>
          </a:xfrm>
          <a:prstGeom prst="roundRect">
            <a:avLst>
              <a:gd name="adj" fmla="val 5000"/>
            </a:avLst>
          </a:prstGeom>
          <a:solidFill>
            <a:srgbClr val="2A1D39"/>
          </a:solidFill>
          <a:ln w="22860">
            <a:solidFill>
              <a:srgbClr val="BD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355080" y="4837176"/>
            <a:ext cx="5440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D7AFF"/>
                </a:solidFill>
                <a:latin typeface="Calibri"/>
              </a:rPr>
              <a:t>Sprint 6: Dashboard &amp; Documentation</a:t>
            </a:r>
          </a:p>
        </p:txBody>
      </p:sp>
      <p:sp>
        <p:nvSpPr>
          <p:cNvPr id="84" name="Oval 83"/>
          <p:cNvSpPr/>
          <p:nvPr/>
        </p:nvSpPr>
        <p:spPr>
          <a:xfrm>
            <a:off x="6355080" y="5349240"/>
            <a:ext cx="182880" cy="182880"/>
          </a:xfrm>
          <a:prstGeom prst="ellipse">
            <a:avLst/>
          </a:prstGeom>
          <a:solidFill>
            <a:srgbClr val="BD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364224" y="5340096"/>
            <a:ext cx="164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A0E1A"/>
                </a:solidFill>
                <a:latin typeface="Calibri"/>
              </a:rPr>
              <a:t>[OK]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601968" y="5312664"/>
            <a:ext cx="52120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0FF"/>
                </a:solidFill>
                <a:latin typeface="Calibri"/>
              </a:rPr>
              <a:t>Grafana nginx Ingress for permanent /grafana URL access</a:t>
            </a:r>
          </a:p>
        </p:txBody>
      </p:sp>
      <p:sp>
        <p:nvSpPr>
          <p:cNvPr id="87" name="Oval 86"/>
          <p:cNvSpPr/>
          <p:nvPr/>
        </p:nvSpPr>
        <p:spPr>
          <a:xfrm>
            <a:off x="6355080" y="5650992"/>
            <a:ext cx="182880" cy="182880"/>
          </a:xfrm>
          <a:prstGeom prst="ellipse">
            <a:avLst/>
          </a:prstGeom>
          <a:solidFill>
            <a:srgbClr val="BD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364224" y="5641848"/>
            <a:ext cx="164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A0E1A"/>
                </a:solidFill>
                <a:latin typeface="Calibri"/>
              </a:rPr>
              <a:t>[OK]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601968" y="5614416"/>
            <a:ext cx="52120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0FF"/>
                </a:solidFill>
                <a:latin typeface="Calibri"/>
              </a:rPr>
              <a:t>README2.md: 1710 lines — full deployment + troubleshooting guide</a:t>
            </a:r>
          </a:p>
        </p:txBody>
      </p:sp>
      <p:sp>
        <p:nvSpPr>
          <p:cNvPr id="90" name="Oval 89"/>
          <p:cNvSpPr/>
          <p:nvPr/>
        </p:nvSpPr>
        <p:spPr>
          <a:xfrm>
            <a:off x="6355080" y="5952744"/>
            <a:ext cx="182880" cy="182880"/>
          </a:xfrm>
          <a:prstGeom prst="ellipse">
            <a:avLst/>
          </a:prstGeom>
          <a:solidFill>
            <a:srgbClr val="BD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64224" y="5943600"/>
            <a:ext cx="164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A0E1A"/>
                </a:solidFill>
                <a:latin typeface="Calibri"/>
              </a:rPr>
              <a:t>[OK]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601968" y="5916168"/>
            <a:ext cx="52120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0FF"/>
                </a:solidFill>
                <a:latin typeface="Calibri"/>
              </a:rPr>
              <a:t>docs/: QUICK_REFERENCE.md, VALIDATION_CHECKLIST.md, VIVA_QA.md</a:t>
            </a:r>
          </a:p>
        </p:txBody>
      </p:sp>
      <p:sp>
        <p:nvSpPr>
          <p:cNvPr id="93" name="Oval 92"/>
          <p:cNvSpPr/>
          <p:nvPr/>
        </p:nvSpPr>
        <p:spPr>
          <a:xfrm>
            <a:off x="6355080" y="6254496"/>
            <a:ext cx="182880" cy="182880"/>
          </a:xfrm>
          <a:prstGeom prst="ellipse">
            <a:avLst/>
          </a:prstGeom>
          <a:solidFill>
            <a:srgbClr val="BD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364224" y="6245352"/>
            <a:ext cx="164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A0E1A"/>
                </a:solidFill>
                <a:latin typeface="Calibri"/>
              </a:rPr>
              <a:t>[OK]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601968" y="6217920"/>
            <a:ext cx="52120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0FF"/>
                </a:solidFill>
                <a:latin typeface="Calibri"/>
              </a:rPr>
              <a:t>10 challenges documented with root cause + solution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3D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12188952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Results &amp; Key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D90B8"/>
                </a:solidFill>
                <a:latin typeface="Calibri"/>
              </a:rPr>
              <a:t>What was achieved and measured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960120"/>
            <a:ext cx="5303520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60720" y="960120"/>
            <a:ext cx="6263640" cy="841248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19050"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1069848"/>
            <a:ext cx="1097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4D6D"/>
                </a:solidFill>
                <a:latin typeface="Calibri"/>
              </a:rPr>
              <a:t>~3–4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6600" y="1051560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8F0FF"/>
                </a:solidFill>
                <a:latin typeface="Calibri"/>
              </a:rPr>
              <a:t>MTTR (Mean Time to Recovery)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1463040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D90B8"/>
                </a:solidFill>
                <a:latin typeface="Calibri"/>
              </a:rPr>
              <a:t>CrashLoopBackOff → healed (was: manual, 10–30 min)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0" y="1920240"/>
            <a:ext cx="6263640" cy="841248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1905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0" y="2029968"/>
            <a:ext cx="1097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E596"/>
                </a:solidFill>
                <a:latin typeface="Calibri"/>
              </a:rP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011680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8F0FF"/>
                </a:solidFill>
                <a:latin typeface="Calibri"/>
              </a:rPr>
              <a:t>Pod Auto-Recovery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2423160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D90B8"/>
                </a:solidFill>
                <a:latin typeface="Calibri"/>
              </a:rPr>
              <a:t>All CrashLoop / OOMKill / Evicted pods recovered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60720" y="2880360"/>
            <a:ext cx="6263640" cy="841248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19050">
            <a:solidFill>
              <a:srgbClr val="3D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0" y="2990088"/>
            <a:ext cx="1097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D8EFF"/>
                </a:solidFill>
                <a:latin typeface="Calibri"/>
              </a:rPr>
              <a:t>&lt; 2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2971800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8F0FF"/>
                </a:solidFill>
                <a:latin typeface="Calibri"/>
              </a:rPr>
              <a:t>Alert Detection 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3383280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D90B8"/>
                </a:solidFill>
                <a:latin typeface="Calibri"/>
              </a:rPr>
              <a:t>PrometheusRule for: 2m on crash-loop alerts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60720" y="3840480"/>
            <a:ext cx="6263640" cy="841248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19050">
            <a:solidFill>
              <a:srgbClr val="FF7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0" y="3950208"/>
            <a:ext cx="1097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7A45"/>
                </a:solidFill>
                <a:latin typeface="Calibri"/>
              </a:rPr>
              <a:t>~5 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931920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8F0FF"/>
                </a:solidFill>
                <a:latin typeface="Calibri"/>
              </a:rPr>
              <a:t>Build Pipeline Duration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4343400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D90B8"/>
                </a:solidFill>
                <a:latin typeface="Calibri"/>
              </a:rPr>
              <a:t>Parallel ×6 builds (vs ~20 min sequential)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60720" y="4800600"/>
            <a:ext cx="6263640" cy="841248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19050">
            <a:solidFill>
              <a:srgbClr val="BD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52160" y="4910328"/>
            <a:ext cx="1097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BD7AFF"/>
                </a:solidFill>
                <a:latin typeface="Calibri"/>
              </a:rPr>
              <a:t>~23 MB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4892040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8F0FF"/>
                </a:solidFill>
                <a:latin typeface="Calibri"/>
              </a:rPr>
              <a:t>Container Image Size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5303520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D90B8"/>
                </a:solidFill>
                <a:latin typeface="Calibri"/>
              </a:rPr>
              <a:t>Frontend: multi-stage node:18 → nginx:1.27-alpine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60720" y="5760720"/>
            <a:ext cx="6263640" cy="841248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19050">
            <a:solidFill>
              <a:srgbClr val="FFD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52160" y="5870448"/>
            <a:ext cx="1097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D03A"/>
                </a:solidFill>
                <a:latin typeface="Calibri"/>
              </a:rPr>
              <a:t>~$220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5852160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8F0FF"/>
                </a:solidFill>
                <a:latin typeface="Calibri"/>
              </a:rPr>
              <a:t>Monthly Cost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6263640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D90B8"/>
                </a:solidFill>
                <a:latin typeface="Calibri"/>
              </a:rPr>
              <a:t>With Atlas free tier + single NLB + gp3 storage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3D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12188952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Future Improvements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D90B8"/>
                </a:solidFill>
                <a:latin typeface="Calibri"/>
              </a:rPr>
              <a:t>Next steps and architectural evolution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960120"/>
            <a:ext cx="5806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E5FF"/>
                </a:solidFill>
                <a:latin typeface="Calibri"/>
              </a:rPr>
              <a:t>Immediate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96012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D7AFF"/>
                </a:solidFill>
                <a:latin typeface="Calibri"/>
              </a:rPr>
              <a:t>Future Enhancements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417320"/>
            <a:ext cx="5806440" cy="1115568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417320"/>
            <a:ext cx="91440" cy="111556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50876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E8F0FF"/>
                </a:solidFill>
                <a:latin typeface="Calibri"/>
              </a:rPr>
              <a:t>Loki + Fluent Bit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984248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D90B8"/>
                </a:solidFill>
                <a:latin typeface="Calibri"/>
              </a:rPr>
              <a:t>Centralized log aggregation — currently logs are per-pod only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679192"/>
            <a:ext cx="5806440" cy="1115568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1905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679192"/>
            <a:ext cx="91440" cy="111556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277063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E8F0FF"/>
                </a:solidFill>
                <a:latin typeface="Calibri"/>
              </a:rPr>
              <a:t>HTTPS / TLS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324612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D90B8"/>
                </a:solidFill>
                <a:latin typeface="Calibri"/>
              </a:rPr>
              <a:t>AWS Certificate Manager + nginx TLS annotation — no HTTPS today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3941064"/>
            <a:ext cx="5806440" cy="1115568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19050">
            <a:solidFill>
              <a:srgbClr val="3D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3941064"/>
            <a:ext cx="91440" cy="1115568"/>
          </a:xfrm>
          <a:prstGeom prst="rect">
            <a:avLst/>
          </a:prstGeom>
          <a:solidFill>
            <a:srgbClr val="3D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4032504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E8F0FF"/>
                </a:solidFill>
                <a:latin typeface="Calibri"/>
              </a:rPr>
              <a:t>IRSA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" y="4507992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D90B8"/>
                </a:solidFill>
                <a:latin typeface="Calibri"/>
              </a:rPr>
              <a:t>Pod-level IAM via OIDC — replace node-wide AmazonS3FullAccess role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5202936"/>
            <a:ext cx="5806440" cy="1115568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19050">
            <a:solidFill>
              <a:srgbClr val="FF7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5202936"/>
            <a:ext cx="91440" cy="1115568"/>
          </a:xfrm>
          <a:prstGeom prst="rect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" y="5294376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E8F0FF"/>
                </a:solidFill>
                <a:latin typeface="Calibri"/>
              </a:rPr>
              <a:t>Cluster Autoscaler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" y="5769864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D90B8"/>
                </a:solidFill>
                <a:latin typeface="Calibri"/>
              </a:rPr>
              <a:t>ASG tags configured, Helm install pending — auto node provisioning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1417320"/>
            <a:ext cx="5806440" cy="1115568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19050">
            <a:solidFill>
              <a:srgbClr val="BD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5080" y="1417320"/>
            <a:ext cx="91440" cy="1115568"/>
          </a:xfrm>
          <a:prstGeom prst="rect">
            <a:avLst/>
          </a:prstGeom>
          <a:solidFill>
            <a:srgbClr val="BD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150876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E8F0FF"/>
                </a:solidFill>
                <a:latin typeface="Calibri"/>
              </a:rPr>
              <a:t>ArgoCD GitOps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56248" y="1984248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D90B8"/>
                </a:solidFill>
                <a:latin typeface="Calibri"/>
              </a:rPr>
              <a:t>Pull-based deployment replacing Jenkins push model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55080" y="2679192"/>
            <a:ext cx="5806440" cy="1115568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19050">
            <a:solidFill>
              <a:srgbClr val="FFD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55080" y="2679192"/>
            <a:ext cx="91440" cy="1115568"/>
          </a:xfrm>
          <a:prstGeom prst="rect">
            <a:avLst/>
          </a:prstGeom>
          <a:solidFill>
            <a:srgbClr val="FFD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56248" y="277063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E8F0FF"/>
                </a:solidFill>
                <a:latin typeface="Calibri"/>
              </a:rPr>
              <a:t>Canary Deployments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56248" y="324612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D90B8"/>
                </a:solidFill>
                <a:latin typeface="Calibri"/>
              </a:rPr>
              <a:t>Flagger — gradual traffic shift with auto-rollback on error rate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55080" y="3941064"/>
            <a:ext cx="5806440" cy="1115568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19050"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55080" y="3941064"/>
            <a:ext cx="91440" cy="1115568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56248" y="4032504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E8F0FF"/>
                </a:solidFill>
                <a:latin typeface="Calibri"/>
              </a:rPr>
              <a:t>Service Mesh (Istio)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56248" y="4507992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D90B8"/>
                </a:solidFill>
                <a:latin typeface="Calibri"/>
              </a:rPr>
              <a:t>mTLS, distributed tracing (Jaeger), circuit breaking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55080" y="5202936"/>
            <a:ext cx="5806440" cy="1115568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19050">
            <a:solidFill>
              <a:srgbClr val="00C9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55080" y="5202936"/>
            <a:ext cx="91440" cy="1115568"/>
          </a:xfrm>
          <a:prstGeom prst="rect">
            <a:avLst/>
          </a:prstGeom>
          <a:solidFill>
            <a:srgbClr val="00C9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56248" y="5294376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E8F0FF"/>
                </a:solidFill>
                <a:latin typeface="Calibri"/>
              </a:rPr>
              <a:t>Go Operator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56248" y="5769864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D90B8"/>
                </a:solidFill>
                <a:latin typeface="Calibri"/>
              </a:rPr>
              <a:t>Rewrite healing controller using controller-runtime (production-grade)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-3657600"/>
            <a:ext cx="6400800" cy="6400800"/>
          </a:xfrm>
          <a:prstGeom prst="ellipse">
            <a:avLst/>
          </a:prstGeom>
          <a:solidFill>
            <a:srgbClr val="081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200400" y="4572000"/>
            <a:ext cx="5486400" cy="5486400"/>
          </a:xfrm>
          <a:prstGeom prst="ellipse">
            <a:avLst/>
          </a:prstGeom>
          <a:solidFill>
            <a:srgbClr val="06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4572000"/>
            <a:ext cx="4572000" cy="4572000"/>
          </a:xfrm>
          <a:prstGeom prst="ellipse">
            <a:avLst/>
          </a:prstGeom>
          <a:solidFill>
            <a:srgbClr val="08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560320"/>
            <a:ext cx="12188952" cy="45720"/>
          </a:xfrm>
          <a:prstGeom prst="rect">
            <a:avLst/>
          </a:prstGeom>
          <a:solidFill>
            <a:srgbClr val="3D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4251960"/>
            <a:ext cx="12188952" cy="45720"/>
          </a:xfrm>
          <a:prstGeom prst="rect">
            <a:avLst/>
          </a:prstGeom>
          <a:solidFill>
            <a:srgbClr val="3D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11292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11292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BA3FF"/>
                </a:solidFill>
                <a:latin typeface="Calibri"/>
              </a:rPr>
              <a:t>StreamingApp  ·  Kubernetes Health Checker &amp; Auto-Healing System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" y="2697480"/>
            <a:ext cx="1848612" cy="1417320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19050">
            <a:solidFill>
              <a:srgbClr val="3D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" y="2788920"/>
            <a:ext cx="18486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D8EFF"/>
                </a:solidFill>
                <a:latin typeface="Calibr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" y="3383280"/>
            <a:ext cx="18486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D90B8"/>
                </a:solidFill>
                <a:latin typeface="Calibri"/>
              </a:rPr>
              <a:t>Microservices
on EKS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22932" y="2697480"/>
            <a:ext cx="1848612" cy="1417320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1905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22932" y="2788920"/>
            <a:ext cx="18486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E596"/>
                </a:solidFill>
                <a:latin typeface="Calibri"/>
              </a:rPr>
              <a:t>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22932" y="3383280"/>
            <a:ext cx="18486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D90B8"/>
                </a:solidFill>
                <a:latin typeface="Calibri"/>
              </a:rPr>
              <a:t>Self-Healing
Controller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54424" y="2697480"/>
            <a:ext cx="1848612" cy="1417320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19050">
            <a:solidFill>
              <a:srgbClr val="FF7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54424" y="2788920"/>
            <a:ext cx="18486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7A45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4424" y="3383280"/>
            <a:ext cx="18486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D90B8"/>
                </a:solidFill>
                <a:latin typeface="Calibri"/>
              </a:rPr>
              <a:t>Alert Rules
in Prometheus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5916" y="2697480"/>
            <a:ext cx="1848612" cy="1417320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19050">
            <a:solidFill>
              <a:srgbClr val="BD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85916" y="2788920"/>
            <a:ext cx="18486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BD7AFF"/>
                </a:solidFill>
                <a:latin typeface="Calibri"/>
              </a:rPr>
              <a:t>Jenkins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85916" y="3383280"/>
            <a:ext cx="18486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D90B8"/>
                </a:solidFill>
                <a:latin typeface="Calibri"/>
              </a:rPr>
              <a:t>CI/CD
6-stage pipeline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17408" y="2697480"/>
            <a:ext cx="1848612" cy="1417320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19050">
            <a:solidFill>
              <a:srgbClr val="FFD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17408" y="2788920"/>
            <a:ext cx="18486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D03A"/>
                </a:solidFill>
                <a:latin typeface="Calibri"/>
              </a:rPr>
              <a:t>~$220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7408" y="3383280"/>
            <a:ext cx="18486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D90B8"/>
                </a:solidFill>
                <a:latin typeface="Calibri"/>
              </a:rPr>
              <a:t>Monthly
Cost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248900" y="2697480"/>
            <a:ext cx="1848612" cy="1417320"/>
          </a:xfrm>
          <a:prstGeom prst="roundRect">
            <a:avLst>
              <a:gd name="adj" fmla="val 5000"/>
            </a:avLst>
          </a:prstGeom>
          <a:solidFill>
            <a:srgbClr val="111727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48900" y="2788920"/>
            <a:ext cx="18486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E5FF"/>
                </a:solidFill>
                <a:latin typeface="Calibri"/>
              </a:rPr>
              <a:t>100%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8900" y="3383280"/>
            <a:ext cx="18486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D90B8"/>
                </a:solidFill>
                <a:latin typeface="Calibri"/>
              </a:rPr>
              <a:t>Auto-Recovery
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370832"/>
            <a:ext cx="11292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E5FF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138928"/>
            <a:ext cx="11292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7D90B8"/>
                </a:solidFill>
                <a:latin typeface="Calibri"/>
              </a:rPr>
              <a:t>GitHub: github.com/PriyankP2/StreamingApp  ·  AWS EKS: streamingapp-cluster-pp  ·  Region: us-west-1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669280"/>
            <a:ext cx="11292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D90B8"/>
                </a:solidFill>
                <a:latin typeface="Calibri"/>
              </a:rPr>
              <a:t>Priyank Pandey  ·  Viva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